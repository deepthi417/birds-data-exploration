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8617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deepthi417" TargetMode="External"/><Relationship Id="rId4" Type="http://schemas.openxmlformats.org/officeDocument/2006/relationships/hyperlink" Target="https://www.linkedin.com/in/deepthi-podil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58717"/>
          <a:stretch/>
        </p:blipFill>
        <p:spPr>
          <a:xfrm>
            <a:off x="0" y="-314960"/>
            <a:ext cx="12190815" cy="2763520"/>
          </a:xfrm>
          <a:prstGeom prst="rect">
            <a:avLst/>
          </a:prstGeom>
          <a:noFill/>
          <a:ln>
            <a:noFill/>
          </a:ln>
        </p:spPr>
      </p:pic>
      <p:sp>
        <p:nvSpPr>
          <p:cNvPr id="99" name="Google Shape;99;p1"/>
          <p:cNvSpPr txBox="1"/>
          <p:nvPr/>
        </p:nvSpPr>
        <p:spPr>
          <a:xfrm>
            <a:off x="1645920" y="2610546"/>
            <a:ext cx="9154160" cy="1046400"/>
          </a:xfrm>
          <a:prstGeom prst="rect">
            <a:avLst/>
          </a:prstGeom>
          <a:noFill/>
          <a:ln>
            <a:noFill/>
          </a:ln>
        </p:spPr>
        <p:txBody>
          <a:bodyPr spcFirstLastPara="1" wrap="square" lIns="91425" tIns="45700" rIns="91425" bIns="45700" anchor="t" anchorCtr="0">
            <a:spAutoFit/>
          </a:bodyPr>
          <a:lstStyle/>
          <a:p>
            <a:pPr algn="ctr"/>
            <a:br>
              <a:rPr lang="en-IN" sz="1800" b="0" i="0" u="none" strike="noStrike" cap="none" dirty="0">
                <a:latin typeface="Arial" panose="020B0604020202020204" pitchFamily="34" charset="0"/>
                <a:ea typeface="Calibri"/>
                <a:cs typeface="Arial" panose="020B0604020202020204" pitchFamily="34" charset="0"/>
              </a:rPr>
            </a:br>
            <a:r>
              <a:rPr lang="en-IN" sz="4400" b="1" dirty="0">
                <a:solidFill>
                  <a:schemeClr val="dk1"/>
                </a:solidFill>
                <a:latin typeface="Arial" panose="020B0604020202020204" pitchFamily="34" charset="0"/>
                <a:ea typeface="Calibri"/>
                <a:cs typeface="Arial" panose="020B0604020202020204" pitchFamily="34" charset="0"/>
              </a:rPr>
              <a:t>Bird Migration Data Analysis</a:t>
            </a:r>
          </a:p>
        </p:txBody>
      </p:sp>
      <p:sp>
        <p:nvSpPr>
          <p:cNvPr id="2" name="TextBox 1">
            <a:extLst>
              <a:ext uri="{FF2B5EF4-FFF2-40B4-BE49-F238E27FC236}">
                <a16:creationId xmlns:a16="http://schemas.microsoft.com/office/drawing/2014/main" id="{86F502CC-AE05-4DBC-3F36-054A0D61DB45}"/>
              </a:ext>
            </a:extLst>
          </p:cNvPr>
          <p:cNvSpPr txBox="1"/>
          <p:nvPr/>
        </p:nvSpPr>
        <p:spPr>
          <a:xfrm>
            <a:off x="6949440" y="4937761"/>
            <a:ext cx="5242560" cy="1077218"/>
          </a:xfrm>
          <a:prstGeom prst="rect">
            <a:avLst/>
          </a:prstGeom>
          <a:noFill/>
        </p:spPr>
        <p:txBody>
          <a:bodyPr wrap="square" rtlCol="0">
            <a:spAutoFit/>
          </a:bodyPr>
          <a:lstStyle/>
          <a:p>
            <a:r>
              <a:rPr lang="en-IN" sz="1600" b="1" dirty="0"/>
              <a:t>Presented By: </a:t>
            </a:r>
            <a:r>
              <a:rPr lang="en-IN" sz="1600" dirty="0"/>
              <a:t>Podila Deepthi</a:t>
            </a:r>
          </a:p>
          <a:p>
            <a:r>
              <a:rPr lang="en-IN" sz="1600" b="1" dirty="0"/>
              <a:t>LinkedIn : </a:t>
            </a:r>
            <a:r>
              <a:rPr lang="en-IN" sz="1600" dirty="0">
                <a:hlinkClick r:id="rId4"/>
              </a:rPr>
              <a:t>https://www.linkedin.com/in/deepthi-podila/</a:t>
            </a:r>
            <a:endParaRPr lang="en-IN" sz="1600" dirty="0"/>
          </a:p>
          <a:p>
            <a:r>
              <a:rPr lang="en-IN" sz="1600" b="1" dirty="0"/>
              <a:t>GitHub: </a:t>
            </a:r>
            <a:r>
              <a:rPr lang="en-IN" sz="1600" dirty="0">
                <a:hlinkClick r:id="rId5"/>
              </a:rPr>
              <a:t>https://github.com/deepthi417</a:t>
            </a:r>
            <a:endParaRPr lang="en-IN" sz="1600" dirty="0"/>
          </a:p>
          <a:p>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8DC00A-94A2-1904-A14B-FAD6FC6EDBA7}"/>
              </a:ext>
            </a:extLst>
          </p:cNvPr>
          <p:cNvSpPr txBox="1"/>
          <p:nvPr/>
        </p:nvSpPr>
        <p:spPr>
          <a:xfrm>
            <a:off x="452683" y="955078"/>
            <a:ext cx="11285389" cy="5262979"/>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GB" sz="2400" b="1" dirty="0"/>
              <a:t>The dataset contains bird migration tracking records collected across different regions and habitats.</a:t>
            </a:r>
            <a:endParaRPr lang="en-GB" sz="2400" b="1" dirty="0">
              <a:cs typeface="Arial"/>
            </a:endParaRPr>
          </a:p>
          <a:p>
            <a:pPr marL="342900" indent="-342900">
              <a:buFont typeface="Wingdings"/>
              <a:buChar char="Ø"/>
            </a:pPr>
            <a:endParaRPr lang="en-GB" sz="2400" b="1" dirty="0"/>
          </a:p>
          <a:p>
            <a:pPr marL="342900" indent="-342900">
              <a:buFont typeface="Wingdings"/>
              <a:buChar char="Ø"/>
            </a:pPr>
            <a:r>
              <a:rPr lang="en-GB" sz="2400" b="1" dirty="0"/>
              <a:t>It includes information on flight distance, flight duration, speed, altitude, and recovery time.</a:t>
            </a:r>
            <a:endParaRPr lang="en-GB" sz="2400" b="1" dirty="0">
              <a:cs typeface="Arial"/>
            </a:endParaRPr>
          </a:p>
          <a:p>
            <a:pPr marL="342900" indent="-342900">
              <a:buFont typeface="Wingdings"/>
              <a:buChar char="Ø"/>
            </a:pPr>
            <a:endParaRPr lang="en-GB" sz="2400" b="1" dirty="0"/>
          </a:p>
          <a:p>
            <a:pPr marL="342900" indent="-342900">
              <a:buFont typeface="Wingdings"/>
              <a:buChar char="Ø"/>
            </a:pPr>
            <a:r>
              <a:rPr lang="en-GB" sz="2400" b="1" dirty="0"/>
              <a:t>Seasonal details such as migration end month are provided to study migration timing.</a:t>
            </a:r>
            <a:endParaRPr lang="en-GB" sz="2400" b="1" dirty="0">
              <a:cs typeface="Arial"/>
            </a:endParaRPr>
          </a:p>
          <a:p>
            <a:pPr marL="342900" indent="-342900">
              <a:buFont typeface="Wingdings"/>
              <a:buChar char="Ø"/>
            </a:pPr>
            <a:endParaRPr lang="en-GB" sz="2400" b="1" dirty="0"/>
          </a:p>
          <a:p>
            <a:pPr marL="342900" indent="-342900">
              <a:buFont typeface="Wingdings"/>
              <a:buChar char="Ø"/>
            </a:pPr>
            <a:r>
              <a:rPr lang="en-GB" sz="2400" b="1" dirty="0"/>
              <a:t>Environmental factors like weather condition, temperature, wind speed, and humidity are included.</a:t>
            </a:r>
            <a:endParaRPr lang="en-GB" sz="2400" b="1" dirty="0">
              <a:cs typeface="Arial"/>
            </a:endParaRPr>
          </a:p>
          <a:p>
            <a:pPr marL="342900" indent="-342900">
              <a:buFont typeface="Wingdings"/>
              <a:buChar char="Ø"/>
            </a:pPr>
            <a:endParaRPr lang="en-GB" sz="2400" b="1" dirty="0"/>
          </a:p>
          <a:p>
            <a:pPr marL="342900" indent="-342900">
              <a:buFont typeface="Wingdings"/>
              <a:buChar char="Ø"/>
            </a:pPr>
            <a:r>
              <a:rPr lang="en-GB" sz="2400" b="1" dirty="0"/>
              <a:t>Biological attributes such as species, flock size, and predator sightings are recorded.</a:t>
            </a:r>
            <a:endParaRPr lang="en-GB" sz="2400" b="1" dirty="0">
              <a:cs typeface="Arial"/>
            </a:endParaRPr>
          </a:p>
        </p:txBody>
      </p:sp>
      <p:sp>
        <p:nvSpPr>
          <p:cNvPr id="3" name="TextBox 2">
            <a:extLst>
              <a:ext uri="{FF2B5EF4-FFF2-40B4-BE49-F238E27FC236}">
                <a16:creationId xmlns:a16="http://schemas.microsoft.com/office/drawing/2014/main" id="{D1315EC3-CF2C-6AC6-4FD3-5D4EEC3A4D4F}"/>
              </a:ext>
            </a:extLst>
          </p:cNvPr>
          <p:cNvSpPr txBox="1"/>
          <p:nvPr/>
        </p:nvSpPr>
        <p:spPr>
          <a:xfrm>
            <a:off x="414618" y="151280"/>
            <a:ext cx="872938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latin typeface="+mj-lt"/>
              </a:rPr>
              <a:t>Dataset Overview</a:t>
            </a:r>
            <a:endParaRPr lang="en-IN" sz="3200" b="1" dirty="0">
              <a:latin typeface="+mj-lt"/>
              <a:ea typeface="Lato Black"/>
            </a:endParaRPr>
          </a:p>
          <a:p>
            <a:pPr algn="ctr"/>
            <a:endParaRPr lang="en-GB" dirty="0"/>
          </a:p>
        </p:txBody>
      </p:sp>
    </p:spTree>
    <p:extLst>
      <p:ext uri="{BB962C8B-B14F-4D97-AF65-F5344CB8AC3E}">
        <p14:creationId xmlns:p14="http://schemas.microsoft.com/office/powerpoint/2010/main" val="58515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695984-EF38-284F-CDEE-0EF59AC7A103}"/>
              </a:ext>
            </a:extLst>
          </p:cNvPr>
          <p:cNvSpPr txBox="1"/>
          <p:nvPr/>
        </p:nvSpPr>
        <p:spPr>
          <a:xfrm>
            <a:off x="642648" y="1086348"/>
            <a:ext cx="10909904" cy="507831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GB" sz="1800" b="1" dirty="0">
                <a:ea typeface="+mn-lt"/>
                <a:cs typeface="+mn-lt"/>
              </a:rPr>
              <a:t>Species</a:t>
            </a:r>
            <a:r>
              <a:rPr lang="en-GB" sz="1800" dirty="0">
                <a:ea typeface="+mn-lt"/>
                <a:cs typeface="+mn-lt"/>
              </a:rPr>
              <a:t> – Type of bird being tracked.</a:t>
            </a:r>
            <a:endParaRPr lang="en-US"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Region</a:t>
            </a:r>
            <a:r>
              <a:rPr lang="en-GB" sz="1800" dirty="0">
                <a:ea typeface="+mn-lt"/>
                <a:cs typeface="+mn-lt"/>
              </a:rPr>
              <a:t> – Geographic area where migration was observed.</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Habitat</a:t>
            </a:r>
            <a:r>
              <a:rPr lang="en-GB" sz="1800" dirty="0">
                <a:ea typeface="+mn-lt"/>
                <a:cs typeface="+mn-lt"/>
              </a:rPr>
              <a:t> – Natural environment the bird passes through during migration.</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Migration_End_Month</a:t>
            </a:r>
            <a:r>
              <a:rPr lang="en-GB" sz="1800" dirty="0">
                <a:ea typeface="+mn-lt"/>
                <a:cs typeface="+mn-lt"/>
              </a:rPr>
              <a:t> – Month when the bird completes its migration.</a:t>
            </a:r>
            <a:endParaRPr lang="en-GB" sz="1800" dirty="0">
              <a:cs typeface="Arial"/>
            </a:endParaRPr>
          </a:p>
          <a:p>
            <a:endParaRPr lang="en-GB" sz="1800" dirty="0">
              <a:ea typeface="+mn-lt"/>
              <a:cs typeface="+mn-lt"/>
            </a:endParaRPr>
          </a:p>
          <a:p>
            <a:pPr marL="285750" indent="-285750">
              <a:buFont typeface="Wingdings"/>
              <a:buChar char="Ø"/>
            </a:pPr>
            <a:r>
              <a:rPr lang="en-GB" sz="1800" b="1" dirty="0">
                <a:ea typeface="+mn-lt"/>
                <a:cs typeface="+mn-lt"/>
              </a:rPr>
              <a:t>Flight_Distance_km</a:t>
            </a:r>
            <a:r>
              <a:rPr lang="en-GB" sz="1800" dirty="0">
                <a:ea typeface="+mn-lt"/>
                <a:cs typeface="+mn-lt"/>
              </a:rPr>
              <a:t> – Total distance travelled during migration </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Flight_Duration_hours</a:t>
            </a:r>
            <a:r>
              <a:rPr lang="en-GB" sz="1800" dirty="0">
                <a:ea typeface="+mn-lt"/>
                <a:cs typeface="+mn-lt"/>
              </a:rPr>
              <a:t> – Total time spent flying during migration (in hours).</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Average_Speed_kmph</a:t>
            </a:r>
            <a:r>
              <a:rPr lang="en-GB" sz="1800" dirty="0">
                <a:ea typeface="+mn-lt"/>
                <a:cs typeface="+mn-lt"/>
              </a:rPr>
              <a:t> – Average speed of the bird during migration.</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Weather_Condition</a:t>
            </a:r>
            <a:r>
              <a:rPr lang="en-GB" sz="1800" dirty="0">
                <a:ea typeface="+mn-lt"/>
                <a:cs typeface="+mn-lt"/>
              </a:rPr>
              <a:t> – Weather conditions during migration.</a:t>
            </a:r>
            <a:endParaRPr lang="en-GB" sz="1800" dirty="0">
              <a:cs typeface="Arial"/>
            </a:endParaRPr>
          </a:p>
          <a:p>
            <a:pPr marL="285750" indent="-285750">
              <a:buFont typeface="Wingdings"/>
              <a:buChar char="Ø"/>
            </a:pPr>
            <a:endParaRPr lang="en-GB" sz="1800" dirty="0">
              <a:ea typeface="+mn-lt"/>
              <a:cs typeface="+mn-lt"/>
            </a:endParaRPr>
          </a:p>
          <a:p>
            <a:pPr marL="285750" indent="-285750">
              <a:buFont typeface="Wingdings"/>
              <a:buChar char="Ø"/>
            </a:pPr>
            <a:r>
              <a:rPr lang="en-GB" sz="1800" b="1" dirty="0">
                <a:ea typeface="+mn-lt"/>
                <a:cs typeface="+mn-lt"/>
              </a:rPr>
              <a:t>Recovery_Time_days</a:t>
            </a:r>
            <a:r>
              <a:rPr lang="en-GB" sz="1800" dirty="0">
                <a:ea typeface="+mn-lt"/>
                <a:cs typeface="+mn-lt"/>
              </a:rPr>
              <a:t> – Number of days the bird needs to rest after migration.</a:t>
            </a:r>
            <a:endParaRPr lang="en-GB" sz="1800" dirty="0">
              <a:cs typeface="Arial"/>
            </a:endParaRPr>
          </a:p>
          <a:p>
            <a:pPr algn="l"/>
            <a:endParaRPr lang="en-GB" sz="1800" dirty="0">
              <a:cs typeface="Arial"/>
            </a:endParaRPr>
          </a:p>
        </p:txBody>
      </p:sp>
      <p:sp>
        <p:nvSpPr>
          <p:cNvPr id="3" name="TextBox 2">
            <a:extLst>
              <a:ext uri="{FF2B5EF4-FFF2-40B4-BE49-F238E27FC236}">
                <a16:creationId xmlns:a16="http://schemas.microsoft.com/office/drawing/2014/main" id="{CC03F4EB-2BB6-D94A-AA5F-C843CD055BE3}"/>
              </a:ext>
            </a:extLst>
          </p:cNvPr>
          <p:cNvSpPr txBox="1"/>
          <p:nvPr/>
        </p:nvSpPr>
        <p:spPr>
          <a:xfrm>
            <a:off x="481852" y="285750"/>
            <a:ext cx="10914531"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latin typeface="+mj-lt"/>
              </a:rPr>
              <a:t>Simple Description Of Some Columns In Your Dataset:</a:t>
            </a:r>
            <a:endParaRPr lang="en-US" sz="3200" b="1" dirty="0">
              <a:latin typeface="+mj-lt"/>
              <a:ea typeface="Lato Black"/>
              <a:cs typeface="Lato Black"/>
            </a:endParaRPr>
          </a:p>
          <a:p>
            <a:pPr algn="ctr"/>
            <a:endParaRPr lang="en-GB" dirty="0"/>
          </a:p>
        </p:txBody>
      </p:sp>
    </p:spTree>
    <p:extLst>
      <p:ext uri="{BB962C8B-B14F-4D97-AF65-F5344CB8AC3E}">
        <p14:creationId xmlns:p14="http://schemas.microsoft.com/office/powerpoint/2010/main" val="169653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E9466-1F57-6124-DA0D-0DDC36E10483}"/>
              </a:ext>
            </a:extLst>
          </p:cNvPr>
          <p:cNvSpPr txBox="1"/>
          <p:nvPr/>
        </p:nvSpPr>
        <p:spPr>
          <a:xfrm>
            <a:off x="420221" y="453839"/>
            <a:ext cx="8723779"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latin typeface="+mj-lt"/>
              </a:rPr>
              <a:t>Reading Dataset</a:t>
            </a:r>
            <a:endParaRPr lang="en-US" sz="3200" b="1" dirty="0">
              <a:latin typeface="+mj-lt"/>
              <a:ea typeface="Lato Black"/>
              <a:cs typeface="Lato Black"/>
            </a:endParaRPr>
          </a:p>
          <a:p>
            <a:pPr algn="ctr"/>
            <a:endParaRPr lang="en-GB" dirty="0"/>
          </a:p>
        </p:txBody>
      </p:sp>
      <p:pic>
        <p:nvPicPr>
          <p:cNvPr id="5" name="Picture 4" descr="A screen shot of a black screen&#10;&#10;AI-generated content may be incorrect.">
            <a:extLst>
              <a:ext uri="{FF2B5EF4-FFF2-40B4-BE49-F238E27FC236}">
                <a16:creationId xmlns:a16="http://schemas.microsoft.com/office/drawing/2014/main" id="{066E9BD8-279C-5A90-83F5-3A5710516790}"/>
              </a:ext>
            </a:extLst>
          </p:cNvPr>
          <p:cNvPicPr>
            <a:picLocks noChangeAspect="1"/>
          </p:cNvPicPr>
          <p:nvPr/>
        </p:nvPicPr>
        <p:blipFill>
          <a:blip r:embed="rId2"/>
          <a:stretch>
            <a:fillRect/>
          </a:stretch>
        </p:blipFill>
        <p:spPr>
          <a:xfrm>
            <a:off x="263336" y="1257644"/>
            <a:ext cx="11665325" cy="49422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4269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672324-C848-9A1A-DC13-F783AAA3B784}"/>
              </a:ext>
            </a:extLst>
          </p:cNvPr>
          <p:cNvSpPr txBox="1"/>
          <p:nvPr/>
        </p:nvSpPr>
        <p:spPr>
          <a:xfrm>
            <a:off x="391763" y="123265"/>
            <a:ext cx="8701811"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latin typeface="+mj-lt"/>
              </a:rPr>
              <a:t>Basic Checks</a:t>
            </a:r>
          </a:p>
          <a:p>
            <a:pPr algn="ctr"/>
            <a:endParaRPr lang="en-GB" dirty="0"/>
          </a:p>
        </p:txBody>
      </p:sp>
      <p:sp>
        <p:nvSpPr>
          <p:cNvPr id="9" name="TextBox 8">
            <a:extLst>
              <a:ext uri="{FF2B5EF4-FFF2-40B4-BE49-F238E27FC236}">
                <a16:creationId xmlns:a16="http://schemas.microsoft.com/office/drawing/2014/main" id="{7DD9E25F-3CBA-4D78-769C-C18D108010FE}"/>
              </a:ext>
            </a:extLst>
          </p:cNvPr>
          <p:cNvSpPr txBox="1"/>
          <p:nvPr/>
        </p:nvSpPr>
        <p:spPr>
          <a:xfrm>
            <a:off x="411236" y="768046"/>
            <a:ext cx="5715000" cy="597439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10" name="Picture 9" descr="A screen shot of a computer&#10;&#10;AI-generated content may be incorrect.">
            <a:extLst>
              <a:ext uri="{FF2B5EF4-FFF2-40B4-BE49-F238E27FC236}">
                <a16:creationId xmlns:a16="http://schemas.microsoft.com/office/drawing/2014/main" id="{2CF8E420-8349-8A61-0069-8C9876FB40F9}"/>
              </a:ext>
            </a:extLst>
          </p:cNvPr>
          <p:cNvPicPr>
            <a:picLocks noChangeAspect="1"/>
          </p:cNvPicPr>
          <p:nvPr/>
        </p:nvPicPr>
        <p:blipFill>
          <a:blip r:embed="rId2"/>
          <a:stretch>
            <a:fillRect/>
          </a:stretch>
        </p:blipFill>
        <p:spPr>
          <a:xfrm>
            <a:off x="598562" y="1166434"/>
            <a:ext cx="5291970" cy="2855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TextBox 13">
            <a:extLst>
              <a:ext uri="{FF2B5EF4-FFF2-40B4-BE49-F238E27FC236}">
                <a16:creationId xmlns:a16="http://schemas.microsoft.com/office/drawing/2014/main" id="{01E91D3C-A9ED-6CF9-1794-4E92F8F2F65A}"/>
              </a:ext>
            </a:extLst>
          </p:cNvPr>
          <p:cNvSpPr txBox="1"/>
          <p:nvPr/>
        </p:nvSpPr>
        <p:spPr>
          <a:xfrm>
            <a:off x="507999" y="768048"/>
            <a:ext cx="36890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t>Columns of the Dataset </a:t>
            </a:r>
            <a:endParaRPr lang="en-GB" dirty="0"/>
          </a:p>
        </p:txBody>
      </p:sp>
      <p:sp>
        <p:nvSpPr>
          <p:cNvPr id="15" name="TextBox 14">
            <a:extLst>
              <a:ext uri="{FF2B5EF4-FFF2-40B4-BE49-F238E27FC236}">
                <a16:creationId xmlns:a16="http://schemas.microsoft.com/office/drawing/2014/main" id="{84D1E14F-4787-5B1B-8892-0998F02EBA6F}"/>
              </a:ext>
            </a:extLst>
          </p:cNvPr>
          <p:cNvSpPr txBox="1"/>
          <p:nvPr/>
        </p:nvSpPr>
        <p:spPr>
          <a:xfrm flipH="1">
            <a:off x="6218767" y="749907"/>
            <a:ext cx="5374519" cy="5654521"/>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18" name="TextBox 17">
            <a:extLst>
              <a:ext uri="{FF2B5EF4-FFF2-40B4-BE49-F238E27FC236}">
                <a16:creationId xmlns:a16="http://schemas.microsoft.com/office/drawing/2014/main" id="{E29C1172-C446-FEB0-E946-14E57B0501B4}"/>
              </a:ext>
            </a:extLst>
          </p:cNvPr>
          <p:cNvSpPr txBox="1"/>
          <p:nvPr/>
        </p:nvSpPr>
        <p:spPr>
          <a:xfrm>
            <a:off x="6247191" y="762001"/>
            <a:ext cx="5031618" cy="4061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t>Checking Structure of the Dataset </a:t>
            </a:r>
            <a:endParaRPr lang="en-GB"/>
          </a:p>
        </p:txBody>
      </p:sp>
      <p:pic>
        <p:nvPicPr>
          <p:cNvPr id="19" name="Picture 18" descr="A screen shot of a computer&#10;&#10;AI-generated content may be incorrect.">
            <a:extLst>
              <a:ext uri="{FF2B5EF4-FFF2-40B4-BE49-F238E27FC236}">
                <a16:creationId xmlns:a16="http://schemas.microsoft.com/office/drawing/2014/main" id="{66893533-8C4D-9F98-A948-8292B153384E}"/>
              </a:ext>
            </a:extLst>
          </p:cNvPr>
          <p:cNvPicPr>
            <a:picLocks noChangeAspect="1"/>
          </p:cNvPicPr>
          <p:nvPr/>
        </p:nvPicPr>
        <p:blipFill>
          <a:blip r:embed="rId3"/>
          <a:stretch>
            <a:fillRect/>
          </a:stretch>
        </p:blipFill>
        <p:spPr>
          <a:xfrm>
            <a:off x="6334502" y="1166963"/>
            <a:ext cx="4941660" cy="50502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TextBox 19">
            <a:extLst>
              <a:ext uri="{FF2B5EF4-FFF2-40B4-BE49-F238E27FC236}">
                <a16:creationId xmlns:a16="http://schemas.microsoft.com/office/drawing/2014/main" id="{A1D5E3D2-2CDF-537D-6804-6982FF396995}"/>
              </a:ext>
            </a:extLst>
          </p:cNvPr>
          <p:cNvSpPr txBox="1"/>
          <p:nvPr/>
        </p:nvSpPr>
        <p:spPr>
          <a:xfrm>
            <a:off x="580571" y="4148666"/>
            <a:ext cx="53739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t>Checking Summary of </a:t>
            </a:r>
            <a:r>
              <a:rPr lang="en-GB" sz="2000" err="1"/>
              <a:t>Catagorical</a:t>
            </a:r>
            <a:r>
              <a:rPr lang="en-GB" sz="2000"/>
              <a:t> columns</a:t>
            </a:r>
          </a:p>
        </p:txBody>
      </p:sp>
      <p:pic>
        <p:nvPicPr>
          <p:cNvPr id="21" name="Picture 20" descr="A screenshot of a computer&#10;&#10;AI-generated content may be incorrect.">
            <a:extLst>
              <a:ext uri="{FF2B5EF4-FFF2-40B4-BE49-F238E27FC236}">
                <a16:creationId xmlns:a16="http://schemas.microsoft.com/office/drawing/2014/main" id="{1D514D8F-A175-F559-DB38-4B299793A50D}"/>
              </a:ext>
            </a:extLst>
          </p:cNvPr>
          <p:cNvPicPr>
            <a:picLocks noChangeAspect="1"/>
          </p:cNvPicPr>
          <p:nvPr/>
        </p:nvPicPr>
        <p:blipFill>
          <a:blip r:embed="rId4"/>
          <a:stretch>
            <a:fillRect/>
          </a:stretch>
        </p:blipFill>
        <p:spPr>
          <a:xfrm>
            <a:off x="745067" y="4550077"/>
            <a:ext cx="4992914" cy="18520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279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43E7F9-074F-2498-FA51-5BE5FC02E89B}"/>
              </a:ext>
            </a:extLst>
          </p:cNvPr>
          <p:cNvSpPr txBox="1"/>
          <p:nvPr/>
        </p:nvSpPr>
        <p:spPr>
          <a:xfrm>
            <a:off x="446902" y="-978"/>
            <a:ext cx="11745097"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latin typeface="+mj-lt"/>
              </a:rPr>
              <a:t>Preprocessing Techniques on Dataset  Columns</a:t>
            </a:r>
            <a:endParaRPr lang="en-US" sz="3200" b="1" dirty="0">
              <a:latin typeface="+mj-lt"/>
              <a:ea typeface="Lato Black"/>
              <a:cs typeface="Lato Black"/>
            </a:endParaRPr>
          </a:p>
          <a:p>
            <a:pPr algn="ctr"/>
            <a:endParaRPr lang="en-GB" dirty="0"/>
          </a:p>
        </p:txBody>
      </p:sp>
      <p:sp>
        <p:nvSpPr>
          <p:cNvPr id="5" name="TextBox 4">
            <a:extLst>
              <a:ext uri="{FF2B5EF4-FFF2-40B4-BE49-F238E27FC236}">
                <a16:creationId xmlns:a16="http://schemas.microsoft.com/office/drawing/2014/main" id="{AFFA1E44-FF9A-6B8D-6D11-A8BA8FA1A0D3}"/>
              </a:ext>
            </a:extLst>
          </p:cNvPr>
          <p:cNvSpPr txBox="1"/>
          <p:nvPr/>
        </p:nvSpPr>
        <p:spPr>
          <a:xfrm>
            <a:off x="441476" y="762000"/>
            <a:ext cx="3295952" cy="5557761"/>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6" name="TextBox 5">
            <a:extLst>
              <a:ext uri="{FF2B5EF4-FFF2-40B4-BE49-F238E27FC236}">
                <a16:creationId xmlns:a16="http://schemas.microsoft.com/office/drawing/2014/main" id="{3EE3259C-8255-F3C0-CB9A-410D8E4AF7E4}"/>
              </a:ext>
            </a:extLst>
          </p:cNvPr>
          <p:cNvSpPr txBox="1"/>
          <p:nvPr/>
        </p:nvSpPr>
        <p:spPr>
          <a:xfrm>
            <a:off x="434809" y="774007"/>
            <a:ext cx="45363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t>Checking missing values</a:t>
            </a:r>
          </a:p>
        </p:txBody>
      </p:sp>
      <p:pic>
        <p:nvPicPr>
          <p:cNvPr id="7" name="Picture 6" descr="A screen shot of a computer&#10;&#10;AI-generated content may be incorrect.">
            <a:extLst>
              <a:ext uri="{FF2B5EF4-FFF2-40B4-BE49-F238E27FC236}">
                <a16:creationId xmlns:a16="http://schemas.microsoft.com/office/drawing/2014/main" id="{BE7B5096-A1FD-13AE-D6D2-4AD00A96F07C}"/>
              </a:ext>
            </a:extLst>
          </p:cNvPr>
          <p:cNvPicPr>
            <a:picLocks noChangeAspect="1"/>
          </p:cNvPicPr>
          <p:nvPr/>
        </p:nvPicPr>
        <p:blipFill>
          <a:blip r:embed="rId2"/>
          <a:stretch>
            <a:fillRect/>
          </a:stretch>
        </p:blipFill>
        <p:spPr>
          <a:xfrm>
            <a:off x="721065" y="1173239"/>
            <a:ext cx="2700490" cy="50437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EEAF5B2A-D7F0-178C-B3D2-1E88C42B019C}"/>
              </a:ext>
            </a:extLst>
          </p:cNvPr>
          <p:cNvSpPr txBox="1"/>
          <p:nvPr/>
        </p:nvSpPr>
        <p:spPr>
          <a:xfrm>
            <a:off x="4197046" y="768046"/>
            <a:ext cx="3350381" cy="2159000"/>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F8102F07-4626-B068-6442-DCF60032765B}"/>
              </a:ext>
            </a:extLst>
          </p:cNvPr>
          <p:cNvSpPr txBox="1"/>
          <p:nvPr/>
        </p:nvSpPr>
        <p:spPr>
          <a:xfrm>
            <a:off x="4203096" y="749904"/>
            <a:ext cx="362252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t>Checking Duplicates</a:t>
            </a:r>
          </a:p>
        </p:txBody>
      </p:sp>
      <p:pic>
        <p:nvPicPr>
          <p:cNvPr id="10" name="Picture 9" descr="A screen shot of a computer&#10;&#10;AI-generated content may be incorrect.">
            <a:extLst>
              <a:ext uri="{FF2B5EF4-FFF2-40B4-BE49-F238E27FC236}">
                <a16:creationId xmlns:a16="http://schemas.microsoft.com/office/drawing/2014/main" id="{72806150-FA88-645F-F59D-C077B1EB2523}"/>
              </a:ext>
            </a:extLst>
          </p:cNvPr>
          <p:cNvPicPr>
            <a:picLocks noChangeAspect="1"/>
          </p:cNvPicPr>
          <p:nvPr/>
        </p:nvPicPr>
        <p:blipFill>
          <a:blip r:embed="rId3"/>
          <a:stretch>
            <a:fillRect/>
          </a:stretch>
        </p:blipFill>
        <p:spPr>
          <a:xfrm>
            <a:off x="4289424" y="1172028"/>
            <a:ext cx="3147485" cy="1308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466F43E0-5C40-3D96-B651-97D1B9FE1EA3}"/>
              </a:ext>
            </a:extLst>
          </p:cNvPr>
          <p:cNvSpPr txBox="1"/>
          <p:nvPr/>
        </p:nvSpPr>
        <p:spPr>
          <a:xfrm>
            <a:off x="4197047" y="3314095"/>
            <a:ext cx="7583714" cy="286232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dirty="0">
                <a:cs typeface="Arial"/>
              </a:rPr>
              <a:t>Only 1 column having the missing values</a:t>
            </a:r>
          </a:p>
          <a:p>
            <a:endParaRPr lang="en-GB" sz="1800" dirty="0">
              <a:cs typeface="Arial"/>
            </a:endParaRPr>
          </a:p>
          <a:p>
            <a:r>
              <a:rPr lang="en-GB" sz="1800" dirty="0">
                <a:cs typeface="Arial"/>
              </a:rPr>
              <a:t>No duplicates in the dataset</a:t>
            </a:r>
          </a:p>
          <a:p>
            <a:endParaRPr lang="en-GB" sz="1800" dirty="0">
              <a:cs typeface="Arial"/>
            </a:endParaRPr>
          </a:p>
          <a:p>
            <a:r>
              <a:rPr lang="en-GB" sz="1800" dirty="0">
                <a:cs typeface="Arial"/>
              </a:rPr>
              <a:t>Now I Want to perform some Preprocessing Technique's on the only one column</a:t>
            </a:r>
          </a:p>
          <a:p>
            <a:r>
              <a:rPr lang="en-GB" sz="1800" dirty="0">
                <a:cs typeface="Arial"/>
              </a:rPr>
              <a:t>Interrupted_Reason</a:t>
            </a:r>
          </a:p>
          <a:p>
            <a:r>
              <a:rPr lang="en-GB" sz="1800" dirty="0">
                <a:cs typeface="Arial"/>
              </a:rPr>
              <a:t>Handling missing data of this column</a:t>
            </a:r>
          </a:p>
          <a:p>
            <a:r>
              <a:rPr lang="en-GB" sz="1800" dirty="0">
                <a:cs typeface="Arial"/>
              </a:rPr>
              <a:t>Handling inconsistence Data of this column</a:t>
            </a:r>
          </a:p>
          <a:p>
            <a:r>
              <a:rPr lang="en-GB" sz="1800" dirty="0">
                <a:cs typeface="Arial"/>
              </a:rPr>
              <a:t>Data Type Conversions</a:t>
            </a:r>
          </a:p>
        </p:txBody>
      </p:sp>
    </p:spTree>
    <p:extLst>
      <p:ext uri="{BB962C8B-B14F-4D97-AF65-F5344CB8AC3E}">
        <p14:creationId xmlns:p14="http://schemas.microsoft.com/office/powerpoint/2010/main" val="4232866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9B780-68F4-D0D2-0A18-C75CE8198431}"/>
              </a:ext>
            </a:extLst>
          </p:cNvPr>
          <p:cNvSpPr txBox="1"/>
          <p:nvPr/>
        </p:nvSpPr>
        <p:spPr>
          <a:xfrm>
            <a:off x="665236" y="290285"/>
            <a:ext cx="5394477" cy="581697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cs typeface="Arial"/>
              </a:rPr>
              <a:t>Column: Interrupted_Reason</a:t>
            </a:r>
          </a:p>
          <a:p>
            <a:endParaRPr lang="en-GB" sz="2400" b="1" dirty="0">
              <a:cs typeface="Arial"/>
            </a:endParaRPr>
          </a:p>
          <a:p>
            <a:r>
              <a:rPr lang="en-GB" sz="1800" b="1" dirty="0">
                <a:cs typeface="Arial"/>
              </a:rPr>
              <a:t>1.Handling Missing Values</a:t>
            </a:r>
            <a:endParaRPr lang="en-GB" sz="24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endParaRPr lang="en-GB" sz="1800" b="1" dirty="0">
              <a:cs typeface="Arial"/>
            </a:endParaRPr>
          </a:p>
          <a:p>
            <a:r>
              <a:rPr lang="en-GB" sz="1800" b="1" dirty="0">
                <a:cs typeface="Arial"/>
              </a:rPr>
              <a:t>The nan is changed to Nothing is interrupted</a:t>
            </a:r>
          </a:p>
          <a:p>
            <a:endParaRPr lang="en-GB" sz="1800" b="1" dirty="0">
              <a:cs typeface="Arial"/>
            </a:endParaRPr>
          </a:p>
        </p:txBody>
      </p:sp>
      <p:pic>
        <p:nvPicPr>
          <p:cNvPr id="3" name="Picture 2" descr="A screenshot of a computer program&#10;&#10;AI-generated content may be incorrect.">
            <a:extLst>
              <a:ext uri="{FF2B5EF4-FFF2-40B4-BE49-F238E27FC236}">
                <a16:creationId xmlns:a16="http://schemas.microsoft.com/office/drawing/2014/main" id="{EBDD3FDF-AF0F-020A-8446-BB6C6056CCDF}"/>
              </a:ext>
            </a:extLst>
          </p:cNvPr>
          <p:cNvPicPr>
            <a:picLocks noChangeAspect="1"/>
          </p:cNvPicPr>
          <p:nvPr/>
        </p:nvPicPr>
        <p:blipFill>
          <a:blip r:embed="rId2"/>
          <a:stretch>
            <a:fillRect/>
          </a:stretch>
        </p:blipFill>
        <p:spPr>
          <a:xfrm>
            <a:off x="771784" y="1469572"/>
            <a:ext cx="5145100" cy="39128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FFEC47E8-EF3E-579C-0DAA-E0E36958B398}"/>
              </a:ext>
            </a:extLst>
          </p:cNvPr>
          <p:cNvSpPr txBox="1"/>
          <p:nvPr/>
        </p:nvSpPr>
        <p:spPr>
          <a:xfrm>
            <a:off x="6519334" y="1475618"/>
            <a:ext cx="5007430" cy="335476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b="1" dirty="0">
                <a:cs typeface="Arial"/>
              </a:rPr>
              <a:t>Column : Interrupted_Reason </a:t>
            </a:r>
          </a:p>
          <a:p>
            <a:endParaRPr lang="en-GB" sz="1800" b="1" dirty="0">
              <a:cs typeface="Arial"/>
            </a:endParaRPr>
          </a:p>
          <a:p>
            <a:r>
              <a:rPr lang="en-GB" sz="1600" dirty="0">
                <a:cs typeface="Arial"/>
              </a:rPr>
              <a:t>1.Missing values are filled with Nothing is interrupted Because the nan values are represented that noting to be noticed as interruption for some birds</a:t>
            </a:r>
          </a:p>
          <a:p>
            <a:endParaRPr lang="en-GB" sz="1600" dirty="0">
              <a:cs typeface="Arial"/>
            </a:endParaRPr>
          </a:p>
          <a:p>
            <a:r>
              <a:rPr lang="en-GB" sz="1600" dirty="0">
                <a:cs typeface="Arial"/>
              </a:rPr>
              <a:t>2.This is the reason it is not filled with the mode for missing values</a:t>
            </a:r>
          </a:p>
          <a:p>
            <a:endParaRPr lang="en-GB" sz="1600" dirty="0">
              <a:cs typeface="Arial"/>
            </a:endParaRPr>
          </a:p>
          <a:p>
            <a:r>
              <a:rPr lang="en-GB" sz="1600" dirty="0">
                <a:cs typeface="Arial"/>
              </a:rPr>
              <a:t>3.There is no need to fix the inconsistencies it is already in consistence order</a:t>
            </a:r>
          </a:p>
          <a:p>
            <a:endParaRPr lang="en-GB" sz="1600" dirty="0">
              <a:cs typeface="Arial"/>
            </a:endParaRPr>
          </a:p>
          <a:p>
            <a:r>
              <a:rPr lang="en-GB" sz="1600" dirty="0">
                <a:cs typeface="Arial"/>
              </a:rPr>
              <a:t>4.I used fillna Function to fill the nan values</a:t>
            </a:r>
          </a:p>
        </p:txBody>
      </p:sp>
    </p:spTree>
    <p:extLst>
      <p:ext uri="{BB962C8B-B14F-4D97-AF65-F5344CB8AC3E}">
        <p14:creationId xmlns:p14="http://schemas.microsoft.com/office/powerpoint/2010/main" val="337830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
          <p:cNvSpPr txBox="1"/>
          <p:nvPr/>
        </p:nvSpPr>
        <p:spPr>
          <a:xfrm>
            <a:off x="749900" y="677325"/>
            <a:ext cx="7874100" cy="59415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2400" b="1" i="0" u="none" strike="noStrike" cap="none">
                <a:solidFill>
                  <a:schemeClr val="dk1"/>
                </a:solidFill>
                <a:latin typeface="Arial"/>
                <a:ea typeface="Arial"/>
                <a:cs typeface="Arial"/>
                <a:sym typeface="Arial"/>
              </a:rPr>
              <a:t>Data Type conversion</a:t>
            </a:r>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GB" sz="2400" b="0" i="0" u="none" strike="noStrike" cap="none">
                <a:solidFill>
                  <a:schemeClr val="dk1"/>
                </a:solidFill>
                <a:latin typeface="Arial"/>
                <a:ea typeface="Arial"/>
                <a:cs typeface="Arial"/>
                <a:sym typeface="Arial"/>
              </a:rPr>
              <a:t>Changed the all the columns into category,float,int</a:t>
            </a:r>
            <a:endParaRPr sz="2400" b="0" i="0" u="none" strike="noStrike" cap="none">
              <a:solidFill>
                <a:schemeClr val="dk1"/>
              </a:solidFill>
              <a:latin typeface="Arial"/>
              <a:ea typeface="Arial"/>
              <a:cs typeface="Arial"/>
              <a:sym typeface="Arial"/>
            </a:endParaRPr>
          </a:p>
        </p:txBody>
      </p:sp>
      <p:pic>
        <p:nvPicPr>
          <p:cNvPr id="127" name="Google Shape;127;p1" descr="A screen shot of a computer&#10;&#10;AI-generated content may be incorrect."/>
          <p:cNvPicPr preferRelativeResize="0"/>
          <p:nvPr/>
        </p:nvPicPr>
        <p:blipFill rotWithShape="1">
          <a:blip r:embed="rId2">
            <a:alphaModFix/>
          </a:blip>
          <a:srcRect/>
          <a:stretch/>
        </p:blipFill>
        <p:spPr>
          <a:xfrm>
            <a:off x="965565" y="1268335"/>
            <a:ext cx="7442777" cy="4759476"/>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28" name="Google Shape;128;p1"/>
          <p:cNvSpPr txBox="1"/>
          <p:nvPr/>
        </p:nvSpPr>
        <p:spPr>
          <a:xfrm>
            <a:off x="8961522" y="2188150"/>
            <a:ext cx="2854500" cy="204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800" b="0" i="0" u="none" strike="noStrike" cap="none" dirty="0">
                <a:solidFill>
                  <a:schemeClr val="dk1"/>
                </a:solidFill>
                <a:latin typeface="Arial"/>
                <a:ea typeface="Arial"/>
                <a:cs typeface="Arial"/>
                <a:sym typeface="Arial"/>
              </a:rPr>
              <a:t>Changed all these columns to the category </a:t>
            </a:r>
            <a:endParaRPr dirty="0"/>
          </a:p>
          <a:p>
            <a:pPr marL="0" marR="0" lvl="0" indent="0" algn="l" rtl="0">
              <a:lnSpc>
                <a:spcPct val="100000"/>
              </a:lnSpc>
              <a:spcBef>
                <a:spcPts val="0"/>
              </a:spcBef>
              <a:spcAft>
                <a:spcPts val="0"/>
              </a:spcAft>
              <a:buNone/>
            </a:pPr>
            <a:r>
              <a:rPr lang="en-GB" sz="1800" b="0" i="0" u="none" strike="noStrike" cap="none" dirty="0">
                <a:solidFill>
                  <a:schemeClr val="dk1"/>
                </a:solidFill>
                <a:latin typeface="Arial"/>
                <a:ea typeface="Arial"/>
                <a:cs typeface="Arial"/>
                <a:sym typeface="Arial"/>
              </a:rPr>
              <a:t>All the other columns are already into their </a:t>
            </a:r>
            <a:r>
              <a:rPr lang="en-GB" sz="1800" b="0" i="0" u="none" strike="noStrike" cap="none" dirty="0" err="1">
                <a:solidFill>
                  <a:schemeClr val="dk1"/>
                </a:solidFill>
                <a:latin typeface="Arial"/>
                <a:ea typeface="Arial"/>
                <a:cs typeface="Arial"/>
                <a:sym typeface="Arial"/>
              </a:rPr>
              <a:t>dtypes</a:t>
            </a: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GB" sz="1800" b="0" i="0" u="none" strike="noStrike" cap="none" dirty="0">
                <a:solidFill>
                  <a:schemeClr val="dk1"/>
                </a:solidFill>
                <a:latin typeface="Arial"/>
                <a:ea typeface="Arial"/>
                <a:cs typeface="Arial"/>
                <a:sym typeface="Arial"/>
              </a:rPr>
              <a:t>We used function as there are more number of columns present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EDAF9A-9EC8-F968-6154-67D90E9BB745}"/>
              </a:ext>
            </a:extLst>
          </p:cNvPr>
          <p:cNvSpPr txBox="1"/>
          <p:nvPr/>
        </p:nvSpPr>
        <p:spPr>
          <a:xfrm>
            <a:off x="1499808" y="628952"/>
            <a:ext cx="4219995" cy="6222998"/>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3" name="TextBox 2">
            <a:extLst>
              <a:ext uri="{FF2B5EF4-FFF2-40B4-BE49-F238E27FC236}">
                <a16:creationId xmlns:a16="http://schemas.microsoft.com/office/drawing/2014/main" id="{757F769B-5DED-0FFB-A64E-397C1DEA4890}"/>
              </a:ext>
            </a:extLst>
          </p:cNvPr>
          <p:cNvSpPr txBox="1"/>
          <p:nvPr/>
        </p:nvSpPr>
        <p:spPr>
          <a:xfrm>
            <a:off x="6138332" y="628949"/>
            <a:ext cx="3392713" cy="5684764"/>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4" name="TextBox 3">
            <a:extLst>
              <a:ext uri="{FF2B5EF4-FFF2-40B4-BE49-F238E27FC236}">
                <a16:creationId xmlns:a16="http://schemas.microsoft.com/office/drawing/2014/main" id="{7EEB25FA-E488-5FDB-E691-565956969823}"/>
              </a:ext>
            </a:extLst>
          </p:cNvPr>
          <p:cNvSpPr txBox="1"/>
          <p:nvPr/>
        </p:nvSpPr>
        <p:spPr>
          <a:xfrm>
            <a:off x="967619" y="169333"/>
            <a:ext cx="103414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Checking Null Values After Preprocessing</a:t>
            </a:r>
          </a:p>
        </p:txBody>
      </p:sp>
      <p:pic>
        <p:nvPicPr>
          <p:cNvPr id="5" name="Picture 4" descr="A screen shot of a computer&#10;&#10;AI-generated content may be incorrect.">
            <a:extLst>
              <a:ext uri="{FF2B5EF4-FFF2-40B4-BE49-F238E27FC236}">
                <a16:creationId xmlns:a16="http://schemas.microsoft.com/office/drawing/2014/main" id="{E33756DA-980A-27ED-7E15-D01BF0E1D8B5}"/>
              </a:ext>
            </a:extLst>
          </p:cNvPr>
          <p:cNvPicPr>
            <a:picLocks noChangeAspect="1"/>
          </p:cNvPicPr>
          <p:nvPr/>
        </p:nvPicPr>
        <p:blipFill>
          <a:blip r:embed="rId2"/>
          <a:stretch>
            <a:fillRect/>
          </a:stretch>
        </p:blipFill>
        <p:spPr>
          <a:xfrm>
            <a:off x="1936636" y="743856"/>
            <a:ext cx="3190347" cy="59206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screen shot of a computer&#10;&#10;AI-generated content may be incorrect.">
            <a:extLst>
              <a:ext uri="{FF2B5EF4-FFF2-40B4-BE49-F238E27FC236}">
                <a16:creationId xmlns:a16="http://schemas.microsoft.com/office/drawing/2014/main" id="{A9041C75-73A1-60BD-6B39-5309A6352F36}"/>
              </a:ext>
            </a:extLst>
          </p:cNvPr>
          <p:cNvPicPr>
            <a:picLocks noChangeAspect="1"/>
          </p:cNvPicPr>
          <p:nvPr/>
        </p:nvPicPr>
        <p:blipFill>
          <a:blip r:embed="rId3"/>
          <a:stretch>
            <a:fillRect/>
          </a:stretch>
        </p:blipFill>
        <p:spPr>
          <a:xfrm>
            <a:off x="6645674" y="792238"/>
            <a:ext cx="2384079" cy="52795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8AD06105-1D84-25B2-DC9A-859246970A36}"/>
              </a:ext>
            </a:extLst>
          </p:cNvPr>
          <p:cNvSpPr txBox="1"/>
          <p:nvPr/>
        </p:nvSpPr>
        <p:spPr>
          <a:xfrm>
            <a:off x="9712476" y="2165047"/>
            <a:ext cx="2165047" cy="101566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cs typeface="Arial"/>
              </a:rPr>
              <a:t>All the null of the columns are become zero</a:t>
            </a:r>
          </a:p>
        </p:txBody>
      </p:sp>
    </p:spTree>
    <p:extLst>
      <p:ext uri="{BB962C8B-B14F-4D97-AF65-F5344CB8AC3E}">
        <p14:creationId xmlns:p14="http://schemas.microsoft.com/office/powerpoint/2010/main" val="2903668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884EF4-B113-02F9-EA1C-D728843AE838}"/>
              </a:ext>
            </a:extLst>
          </p:cNvPr>
          <p:cNvSpPr txBox="1"/>
          <p:nvPr/>
        </p:nvSpPr>
        <p:spPr>
          <a:xfrm>
            <a:off x="459619" y="302380"/>
            <a:ext cx="6809617" cy="475947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3" name="Picture 2" descr="A screen shot of a black screen&#10;&#10;AI-generated content may be incorrect.">
            <a:extLst>
              <a:ext uri="{FF2B5EF4-FFF2-40B4-BE49-F238E27FC236}">
                <a16:creationId xmlns:a16="http://schemas.microsoft.com/office/drawing/2014/main" id="{E2DF5139-AFD6-0031-B0AC-6D8A21E1A0B2}"/>
              </a:ext>
            </a:extLst>
          </p:cNvPr>
          <p:cNvPicPr>
            <a:picLocks noChangeAspect="1"/>
          </p:cNvPicPr>
          <p:nvPr/>
        </p:nvPicPr>
        <p:blipFill>
          <a:blip r:embed="rId2"/>
          <a:stretch>
            <a:fillRect/>
          </a:stretch>
        </p:blipFill>
        <p:spPr>
          <a:xfrm>
            <a:off x="640949" y="483809"/>
            <a:ext cx="6428818" cy="431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062DB6EB-4C20-6539-B0B9-1AE2B56299F8}"/>
              </a:ext>
            </a:extLst>
          </p:cNvPr>
          <p:cNvSpPr txBox="1"/>
          <p:nvPr/>
        </p:nvSpPr>
        <p:spPr>
          <a:xfrm>
            <a:off x="7438571" y="290286"/>
            <a:ext cx="4299858" cy="5727094"/>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5" name="Picture 4" descr="A screen shot of a computer&#10;&#10;AI-generated content may be incorrect.">
            <a:extLst>
              <a:ext uri="{FF2B5EF4-FFF2-40B4-BE49-F238E27FC236}">
                <a16:creationId xmlns:a16="http://schemas.microsoft.com/office/drawing/2014/main" id="{E895CB9C-4210-1F9D-E96B-10686272B6D3}"/>
              </a:ext>
            </a:extLst>
          </p:cNvPr>
          <p:cNvPicPr>
            <a:picLocks noChangeAspect="1"/>
          </p:cNvPicPr>
          <p:nvPr/>
        </p:nvPicPr>
        <p:blipFill>
          <a:blip r:embed="rId3"/>
          <a:stretch>
            <a:fillRect/>
          </a:stretch>
        </p:blipFill>
        <p:spPr>
          <a:xfrm>
            <a:off x="7693399" y="399142"/>
            <a:ext cx="3784156" cy="55093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4E643F31-7FFF-EEA7-9401-DBDE707B1120}"/>
              </a:ext>
            </a:extLst>
          </p:cNvPr>
          <p:cNvSpPr txBox="1"/>
          <p:nvPr/>
        </p:nvSpPr>
        <p:spPr>
          <a:xfrm>
            <a:off x="459620" y="5309809"/>
            <a:ext cx="6815666" cy="923330"/>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b="1" dirty="0">
                <a:cs typeface="Arial"/>
              </a:rPr>
              <a:t>After Preprocessing of The Dataset and Cleaned</a:t>
            </a:r>
          </a:p>
          <a:p>
            <a:r>
              <a:rPr lang="en-GB" sz="1800" b="1" dirty="0">
                <a:cs typeface="Arial"/>
              </a:rPr>
              <a:t>Now, The Dataset is Ready To analyse and find  valuable insights.</a:t>
            </a:r>
          </a:p>
        </p:txBody>
      </p:sp>
    </p:spTree>
    <p:extLst>
      <p:ext uri="{BB962C8B-B14F-4D97-AF65-F5344CB8AC3E}">
        <p14:creationId xmlns:p14="http://schemas.microsoft.com/office/powerpoint/2010/main" val="3310116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CC0A78-45DE-4B46-C48F-40A1D6960189}"/>
              </a:ext>
            </a:extLst>
          </p:cNvPr>
          <p:cNvSpPr/>
          <p:nvPr/>
        </p:nvSpPr>
        <p:spPr>
          <a:xfrm>
            <a:off x="262465" y="127631"/>
            <a:ext cx="11658602" cy="8460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3600" b="1" dirty="0">
                <a:latin typeface="+mj-lt"/>
                <a:cs typeface="Times New Roman" panose="02020603050405020304" pitchFamily="18" charset="0"/>
              </a:rPr>
              <a:t>Data Analysis through Visualizations</a:t>
            </a:r>
            <a:endParaRPr lang="en-US" sz="3600" b="1" dirty="0">
              <a:ln>
                <a:solidFill>
                  <a:schemeClr val="tx1">
                    <a:lumMod val="75000"/>
                    <a:lumOff val="25000"/>
                  </a:schemeClr>
                </a:solidFill>
              </a:ln>
              <a:latin typeface="+mj-lt"/>
              <a:cs typeface="Times New Roman" panose="02020603050405020304" pitchFamily="18" charset="0"/>
            </a:endParaRPr>
          </a:p>
        </p:txBody>
      </p:sp>
      <p:sp>
        <p:nvSpPr>
          <p:cNvPr id="11" name="Rectangle 10">
            <a:extLst>
              <a:ext uri="{FF2B5EF4-FFF2-40B4-BE49-F238E27FC236}">
                <a16:creationId xmlns:a16="http://schemas.microsoft.com/office/drawing/2014/main" id="{FDA113EF-2B85-4B16-F631-12A45CF844D4}"/>
              </a:ext>
            </a:extLst>
          </p:cNvPr>
          <p:cNvSpPr/>
          <p:nvPr/>
        </p:nvSpPr>
        <p:spPr>
          <a:xfrm>
            <a:off x="262465" y="973667"/>
            <a:ext cx="11658602" cy="6773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3200" b="1" dirty="0">
                <a:latin typeface="Times New Roman" panose="02020603050405020304" pitchFamily="18" charset="0"/>
                <a:cs typeface="Times New Roman" panose="02020603050405020304" pitchFamily="18" charset="0"/>
              </a:rPr>
              <a:t>Univariate Analysis</a:t>
            </a:r>
          </a:p>
        </p:txBody>
      </p:sp>
      <p:sp>
        <p:nvSpPr>
          <p:cNvPr id="12" name="Rectangle 11">
            <a:extLst>
              <a:ext uri="{FF2B5EF4-FFF2-40B4-BE49-F238E27FC236}">
                <a16:creationId xmlns:a16="http://schemas.microsoft.com/office/drawing/2014/main" id="{BBDB73FD-6BD7-DD95-0F57-EF5D8C3F8B4A}"/>
              </a:ext>
            </a:extLst>
          </p:cNvPr>
          <p:cNvSpPr/>
          <p:nvPr/>
        </p:nvSpPr>
        <p:spPr>
          <a:xfrm>
            <a:off x="262464" y="1727199"/>
            <a:ext cx="5833535" cy="35221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FD92A0CE-47F3-D52F-0C9B-D89C7713A8C9}"/>
              </a:ext>
            </a:extLst>
          </p:cNvPr>
          <p:cNvSpPr/>
          <p:nvPr/>
        </p:nvSpPr>
        <p:spPr>
          <a:xfrm>
            <a:off x="6333069" y="1910080"/>
            <a:ext cx="5596467" cy="4211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500" b="1" dirty="0"/>
              <a:t>Distribution of Recovery_Time_days</a:t>
            </a:r>
          </a:p>
          <a:p>
            <a:pPr algn="ctr"/>
            <a:endParaRPr lang="en-GB" sz="1900" b="1" dirty="0"/>
          </a:p>
          <a:p>
            <a:pPr marL="342900" indent="-342900">
              <a:buFont typeface="Wingdings" panose="05000000000000000000" pitchFamily="2" charset="2"/>
              <a:buChar char="ü"/>
            </a:pPr>
            <a:r>
              <a:rPr lang="en-GB" sz="1900" dirty="0"/>
              <a:t>Recovery times range dramatically (1-119 days), demonstrating the wide degree of variation. </a:t>
            </a:r>
          </a:p>
          <a:p>
            <a:pPr marL="342900" indent="-342900">
              <a:buFont typeface="Wingdings" panose="05000000000000000000" pitchFamily="2" charset="2"/>
              <a:buChar char="ü"/>
            </a:pPr>
            <a:endParaRPr lang="en-GB" sz="1900" dirty="0"/>
          </a:p>
          <a:p>
            <a:pPr marL="342900" indent="-342900">
              <a:buFont typeface="Wingdings" panose="05000000000000000000" pitchFamily="2" charset="2"/>
              <a:buChar char="ü"/>
            </a:pPr>
            <a:r>
              <a:rPr lang="en-GB" sz="1900" dirty="0"/>
              <a:t>The mean and median recovery time is around 60-61 days which suggests a relatively symmetric distribution. </a:t>
            </a:r>
          </a:p>
          <a:p>
            <a:endParaRPr lang="en-GB" sz="1900" dirty="0"/>
          </a:p>
          <a:p>
            <a:pPr marL="342900" indent="-342900">
              <a:buFont typeface="Wingdings" panose="05000000000000000000" pitchFamily="2" charset="2"/>
              <a:buChar char="ü"/>
            </a:pPr>
            <a:r>
              <a:rPr lang="en-GB" sz="1900" dirty="0"/>
              <a:t>The interquartile range (between which 50% of the recoveries occurred) is between the 31st - 91st days (1-3 months)</a:t>
            </a:r>
            <a:endParaRPr lang="en-US" sz="1900" dirty="0"/>
          </a:p>
        </p:txBody>
      </p:sp>
      <p:sp>
        <p:nvSpPr>
          <p:cNvPr id="14" name="Rectangle 13">
            <a:extLst>
              <a:ext uri="{FF2B5EF4-FFF2-40B4-BE49-F238E27FC236}">
                <a16:creationId xmlns:a16="http://schemas.microsoft.com/office/drawing/2014/main" id="{27BBBD96-59DE-2CDD-1412-CC687CA3479C}"/>
              </a:ext>
            </a:extLst>
          </p:cNvPr>
          <p:cNvSpPr/>
          <p:nvPr/>
        </p:nvSpPr>
        <p:spPr>
          <a:xfrm>
            <a:off x="262464" y="5249332"/>
            <a:ext cx="5833536" cy="1346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6" name="Picture 15">
            <a:extLst>
              <a:ext uri="{FF2B5EF4-FFF2-40B4-BE49-F238E27FC236}">
                <a16:creationId xmlns:a16="http://schemas.microsoft.com/office/drawing/2014/main" id="{D4EE3338-51CC-194C-73F0-C2F21FCA554E}"/>
              </a:ext>
            </a:extLst>
          </p:cNvPr>
          <p:cNvPicPr>
            <a:picLocks noChangeAspect="1"/>
          </p:cNvPicPr>
          <p:nvPr/>
        </p:nvPicPr>
        <p:blipFill>
          <a:blip r:embed="rId2"/>
          <a:stretch>
            <a:fillRect/>
          </a:stretch>
        </p:blipFill>
        <p:spPr>
          <a:xfrm>
            <a:off x="270935" y="1727199"/>
            <a:ext cx="5825064" cy="3522133"/>
          </a:xfrm>
          <a:prstGeom prst="rect">
            <a:avLst/>
          </a:prstGeom>
        </p:spPr>
      </p:pic>
      <p:pic>
        <p:nvPicPr>
          <p:cNvPr id="18" name="Picture 17">
            <a:extLst>
              <a:ext uri="{FF2B5EF4-FFF2-40B4-BE49-F238E27FC236}">
                <a16:creationId xmlns:a16="http://schemas.microsoft.com/office/drawing/2014/main" id="{8B0908B8-61BC-0838-D24F-87C9B2CF26C7}"/>
              </a:ext>
            </a:extLst>
          </p:cNvPr>
          <p:cNvPicPr>
            <a:picLocks noChangeAspect="1"/>
          </p:cNvPicPr>
          <p:nvPr/>
        </p:nvPicPr>
        <p:blipFill>
          <a:blip r:embed="rId3"/>
          <a:stretch>
            <a:fillRect/>
          </a:stretch>
        </p:blipFill>
        <p:spPr>
          <a:xfrm>
            <a:off x="258230" y="5249332"/>
            <a:ext cx="5833536" cy="1346199"/>
          </a:xfrm>
          <a:prstGeom prst="rect">
            <a:avLst/>
          </a:prstGeom>
        </p:spPr>
      </p:pic>
    </p:spTree>
    <p:extLst>
      <p:ext uri="{BB962C8B-B14F-4D97-AF65-F5344CB8AC3E}">
        <p14:creationId xmlns:p14="http://schemas.microsoft.com/office/powerpoint/2010/main" val="1990544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
          <p:cNvSpPr/>
          <p:nvPr/>
        </p:nvSpPr>
        <p:spPr>
          <a:xfrm>
            <a:off x="287876" y="567275"/>
            <a:ext cx="5658300" cy="44280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1"/>
          <p:cNvSpPr/>
          <p:nvPr/>
        </p:nvSpPr>
        <p:spPr>
          <a:xfrm>
            <a:off x="6372013" y="567275"/>
            <a:ext cx="5393400" cy="44280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GB" sz="2500" b="1" dirty="0"/>
              <a:t>Species Distribution</a:t>
            </a:r>
          </a:p>
          <a:p>
            <a:pPr lvl="0" algn="ctr"/>
            <a:endParaRPr lang="en-GB" b="1" dirty="0"/>
          </a:p>
          <a:p>
            <a:pPr marL="342900" lvl="0" indent="-342900">
              <a:buFont typeface="Wingdings" panose="05000000000000000000" pitchFamily="2" charset="2"/>
              <a:buChar char="ü"/>
            </a:pPr>
            <a:r>
              <a:rPr lang="en-GB" sz="2000" dirty="0"/>
              <a:t>Most migratory species are almost equally represented.</a:t>
            </a:r>
          </a:p>
          <a:p>
            <a:pPr marL="342900" lvl="0" indent="-342900">
              <a:buFont typeface="Wingdings" panose="05000000000000000000" pitchFamily="2" charset="2"/>
              <a:buChar char="ü"/>
            </a:pPr>
            <a:endParaRPr lang="en-GB" sz="2000" dirty="0"/>
          </a:p>
          <a:p>
            <a:pPr marL="342900" lvl="0" indent="-342900">
              <a:buFont typeface="Wingdings" panose="05000000000000000000" pitchFamily="2" charset="2"/>
              <a:buChar char="ü"/>
            </a:pPr>
            <a:r>
              <a:rPr lang="en-GB" sz="2000" dirty="0"/>
              <a:t>The proportion of species that capture data consists of approximately 14-15% of all observations of the sample.</a:t>
            </a:r>
          </a:p>
          <a:p>
            <a:pPr marL="342900" lvl="0" indent="-342900">
              <a:buFont typeface="Wingdings" panose="05000000000000000000" pitchFamily="2" charset="2"/>
              <a:buChar char="ü"/>
            </a:pPr>
            <a:endParaRPr lang="en-GB" sz="2000" dirty="0"/>
          </a:p>
          <a:p>
            <a:pPr marL="342900" lvl="0" indent="-342900">
              <a:buFont typeface="Wingdings" panose="05000000000000000000" pitchFamily="2" charset="2"/>
              <a:buChar char="ü"/>
            </a:pPr>
            <a:r>
              <a:rPr lang="en-GB" sz="2000" dirty="0"/>
              <a:t>No one particular species in the data set has a significantly greater weight than the other species.</a:t>
            </a:r>
          </a:p>
          <a:p>
            <a:pPr marL="0" marR="0" lvl="0" indent="0" algn="ctr" rtl="0">
              <a:lnSpc>
                <a:spcPct val="100000"/>
              </a:lnSpc>
              <a:spcBef>
                <a:spcPts val="0"/>
              </a:spcBef>
              <a:spcAft>
                <a:spcPts val="0"/>
              </a:spcAft>
              <a:buNone/>
            </a:pPr>
            <a:endParaRPr dirty="0"/>
          </a:p>
        </p:txBody>
      </p:sp>
      <p:pic>
        <p:nvPicPr>
          <p:cNvPr id="122" name="Google Shape;122;p1"/>
          <p:cNvPicPr preferRelativeResize="0"/>
          <p:nvPr/>
        </p:nvPicPr>
        <p:blipFill rotWithShape="1">
          <a:blip r:embed="rId2">
            <a:alphaModFix/>
          </a:blip>
          <a:srcRect/>
          <a:stretch/>
        </p:blipFill>
        <p:spPr>
          <a:xfrm>
            <a:off x="808050" y="754050"/>
            <a:ext cx="4658725" cy="3965925"/>
          </a:xfrm>
          <a:prstGeom prst="rect">
            <a:avLst/>
          </a:prstGeom>
          <a:noFill/>
          <a:ln>
            <a:noFill/>
          </a:ln>
        </p:spPr>
      </p:pic>
      <p:pic>
        <p:nvPicPr>
          <p:cNvPr id="123" name="Google Shape;123;p1"/>
          <p:cNvPicPr preferRelativeResize="0"/>
          <p:nvPr/>
        </p:nvPicPr>
        <p:blipFill rotWithShape="1">
          <a:blip r:embed="rId3">
            <a:alphaModFix/>
          </a:blip>
          <a:srcRect/>
          <a:stretch/>
        </p:blipFill>
        <p:spPr>
          <a:xfrm>
            <a:off x="287866" y="5182105"/>
            <a:ext cx="8475132" cy="13843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AD0B4C-F82D-2A56-265D-F2A9871B0611}"/>
              </a:ext>
            </a:extLst>
          </p:cNvPr>
          <p:cNvSpPr/>
          <p:nvPr/>
        </p:nvSpPr>
        <p:spPr>
          <a:xfrm>
            <a:off x="520698" y="116369"/>
            <a:ext cx="5867400" cy="47582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45D82A76-5894-1B5F-D677-6D805DB8F9FA}"/>
              </a:ext>
            </a:extLst>
          </p:cNvPr>
          <p:cNvSpPr/>
          <p:nvPr/>
        </p:nvSpPr>
        <p:spPr>
          <a:xfrm>
            <a:off x="7040035" y="143933"/>
            <a:ext cx="4631267" cy="47582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500" b="1" dirty="0"/>
              <a:t>Migration Reason Distribution</a:t>
            </a:r>
          </a:p>
          <a:p>
            <a:pPr algn="ctr"/>
            <a:endParaRPr lang="en-GB" dirty="0"/>
          </a:p>
          <a:p>
            <a:pPr algn="ctr"/>
            <a:r>
              <a:rPr lang="en-GB" sz="2000" dirty="0"/>
              <a:t>Migration reasons are evenly distributed:</a:t>
            </a:r>
          </a:p>
          <a:p>
            <a:pPr algn="ctr"/>
            <a:endParaRPr lang="en-GB" sz="2000" dirty="0"/>
          </a:p>
          <a:p>
            <a:pPr marL="342900" indent="-342900" algn="ctr">
              <a:buFont typeface="Wingdings" panose="05000000000000000000" pitchFamily="2" charset="2"/>
              <a:buChar char="ü"/>
            </a:pPr>
            <a:r>
              <a:rPr lang="en-GB" sz="2000" dirty="0"/>
              <a:t>Feeding: ~25.7%</a:t>
            </a:r>
          </a:p>
          <a:p>
            <a:pPr marL="342900" indent="-342900" algn="ctr">
              <a:buFont typeface="Wingdings" panose="05000000000000000000" pitchFamily="2" charset="2"/>
              <a:buChar char="ü"/>
            </a:pPr>
            <a:endParaRPr lang="en-GB" sz="2000" dirty="0"/>
          </a:p>
          <a:p>
            <a:pPr marL="342900" indent="-342900" algn="ctr">
              <a:buFont typeface="Wingdings" panose="05000000000000000000" pitchFamily="2" charset="2"/>
              <a:buChar char="ü"/>
            </a:pPr>
            <a:r>
              <a:rPr lang="en-GB" sz="2000" dirty="0"/>
              <a:t>Avoid Predators: ~25.2%</a:t>
            </a:r>
          </a:p>
          <a:p>
            <a:pPr marL="342900" indent="-342900" algn="ctr">
              <a:buFont typeface="Wingdings" panose="05000000000000000000" pitchFamily="2" charset="2"/>
              <a:buChar char="ü"/>
            </a:pPr>
            <a:endParaRPr lang="en-GB" sz="2000" dirty="0"/>
          </a:p>
          <a:p>
            <a:pPr marL="342900" indent="-342900" algn="ctr">
              <a:buFont typeface="Wingdings" panose="05000000000000000000" pitchFamily="2" charset="2"/>
              <a:buChar char="ü"/>
            </a:pPr>
            <a:r>
              <a:rPr lang="en-GB" sz="2000" dirty="0"/>
              <a:t>Climate Change: ~24.7%</a:t>
            </a:r>
          </a:p>
          <a:p>
            <a:pPr marL="342900" indent="-342900" algn="ctr">
              <a:buFont typeface="Wingdings" panose="05000000000000000000" pitchFamily="2" charset="2"/>
              <a:buChar char="ü"/>
            </a:pPr>
            <a:endParaRPr lang="en-GB" sz="2000" dirty="0"/>
          </a:p>
          <a:p>
            <a:pPr marL="342900" indent="-342900" algn="ctr">
              <a:buFont typeface="Wingdings" panose="05000000000000000000" pitchFamily="2" charset="2"/>
              <a:buChar char="ü"/>
            </a:pPr>
            <a:r>
              <a:rPr lang="en-GB" sz="2000" dirty="0"/>
              <a:t>Breeding: ~24.4%</a:t>
            </a:r>
          </a:p>
          <a:p>
            <a:pPr algn="ctr"/>
            <a:endParaRPr lang="en-GB" sz="2000" dirty="0"/>
          </a:p>
          <a:p>
            <a:pPr algn="ctr"/>
            <a:endParaRPr lang="en-US" dirty="0"/>
          </a:p>
        </p:txBody>
      </p:sp>
      <p:pic>
        <p:nvPicPr>
          <p:cNvPr id="5" name="Picture 4">
            <a:extLst>
              <a:ext uri="{FF2B5EF4-FFF2-40B4-BE49-F238E27FC236}">
                <a16:creationId xmlns:a16="http://schemas.microsoft.com/office/drawing/2014/main" id="{6386E087-6121-6078-936C-19EE23870346}"/>
              </a:ext>
            </a:extLst>
          </p:cNvPr>
          <p:cNvPicPr>
            <a:picLocks noChangeAspect="1"/>
          </p:cNvPicPr>
          <p:nvPr/>
        </p:nvPicPr>
        <p:blipFill>
          <a:blip r:embed="rId2"/>
          <a:stretch>
            <a:fillRect/>
          </a:stretch>
        </p:blipFill>
        <p:spPr>
          <a:xfrm>
            <a:off x="668865" y="143933"/>
            <a:ext cx="5571066" cy="4546601"/>
          </a:xfrm>
          <a:prstGeom prst="rect">
            <a:avLst/>
          </a:prstGeom>
        </p:spPr>
      </p:pic>
      <p:pic>
        <p:nvPicPr>
          <p:cNvPr id="7" name="Picture 6">
            <a:extLst>
              <a:ext uri="{FF2B5EF4-FFF2-40B4-BE49-F238E27FC236}">
                <a16:creationId xmlns:a16="http://schemas.microsoft.com/office/drawing/2014/main" id="{3C27FEFC-359F-F509-F50E-E6833A89FCC4}"/>
              </a:ext>
            </a:extLst>
          </p:cNvPr>
          <p:cNvPicPr>
            <a:picLocks noChangeAspect="1"/>
          </p:cNvPicPr>
          <p:nvPr/>
        </p:nvPicPr>
        <p:blipFill>
          <a:blip r:embed="rId3"/>
          <a:stretch>
            <a:fillRect/>
          </a:stretch>
        </p:blipFill>
        <p:spPr>
          <a:xfrm>
            <a:off x="520698" y="5058738"/>
            <a:ext cx="8047569" cy="1866996"/>
          </a:xfrm>
          <a:prstGeom prst="rect">
            <a:avLst/>
          </a:prstGeom>
        </p:spPr>
      </p:pic>
    </p:spTree>
    <p:extLst>
      <p:ext uri="{BB962C8B-B14F-4D97-AF65-F5344CB8AC3E}">
        <p14:creationId xmlns:p14="http://schemas.microsoft.com/office/powerpoint/2010/main" val="350774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E55600-F0A6-FFA0-9C69-8C70981C7999}"/>
              </a:ext>
            </a:extLst>
          </p:cNvPr>
          <p:cNvSpPr/>
          <p:nvPr/>
        </p:nvSpPr>
        <p:spPr>
          <a:xfrm>
            <a:off x="770466" y="406398"/>
            <a:ext cx="6028267" cy="4521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BE4B3C60-C71E-F395-ACBA-10F64E9A40F9}"/>
              </a:ext>
            </a:extLst>
          </p:cNvPr>
          <p:cNvSpPr/>
          <p:nvPr/>
        </p:nvSpPr>
        <p:spPr>
          <a:xfrm>
            <a:off x="7162799" y="406398"/>
            <a:ext cx="4402667" cy="4521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500" b="1" dirty="0"/>
              <a:t>Migration Success Distribution</a:t>
            </a:r>
          </a:p>
          <a:p>
            <a:pPr algn="ctr"/>
            <a:endParaRPr lang="en-GB" sz="2500" dirty="0"/>
          </a:p>
          <a:p>
            <a:pPr marL="342900" indent="-342900" algn="ctr">
              <a:buFont typeface="Wingdings" panose="05000000000000000000" pitchFamily="2" charset="2"/>
              <a:buChar char="ü"/>
            </a:pPr>
            <a:r>
              <a:rPr lang="en-GB" sz="2000" dirty="0"/>
              <a:t>Successful migrations: ~50.9%</a:t>
            </a:r>
          </a:p>
          <a:p>
            <a:pPr marL="342900" indent="-342900" algn="ctr">
              <a:buFont typeface="Wingdings" panose="05000000000000000000" pitchFamily="2" charset="2"/>
              <a:buChar char="ü"/>
            </a:pPr>
            <a:endParaRPr lang="en-GB" sz="2000" dirty="0"/>
          </a:p>
          <a:p>
            <a:pPr marL="342900" indent="-342900" algn="ctr">
              <a:buFont typeface="Wingdings" panose="05000000000000000000" pitchFamily="2" charset="2"/>
              <a:buChar char="ü"/>
            </a:pPr>
            <a:r>
              <a:rPr lang="en-GB" sz="2000" dirty="0"/>
              <a:t>Failed migrations: ~49.1%</a:t>
            </a:r>
          </a:p>
          <a:p>
            <a:pPr marL="342900" indent="-342900" algn="ctr">
              <a:buFont typeface="Wingdings" panose="05000000000000000000" pitchFamily="2" charset="2"/>
              <a:buChar char="ü"/>
            </a:pPr>
            <a:endParaRPr lang="en-GB" sz="2000" dirty="0"/>
          </a:p>
          <a:p>
            <a:pPr marL="342900" indent="-342900" algn="ctr">
              <a:buFont typeface="Wingdings" panose="05000000000000000000" pitchFamily="2" charset="2"/>
              <a:buChar char="ü"/>
            </a:pPr>
            <a:r>
              <a:rPr lang="en-GB" sz="2000" dirty="0"/>
              <a:t>Success and failure rates are nearly equal.</a:t>
            </a:r>
          </a:p>
          <a:p>
            <a:pPr algn="ctr"/>
            <a:endParaRPr lang="en-US" dirty="0"/>
          </a:p>
        </p:txBody>
      </p:sp>
      <p:pic>
        <p:nvPicPr>
          <p:cNvPr id="5" name="Picture 4">
            <a:extLst>
              <a:ext uri="{FF2B5EF4-FFF2-40B4-BE49-F238E27FC236}">
                <a16:creationId xmlns:a16="http://schemas.microsoft.com/office/drawing/2014/main" id="{B5597BDE-0BDB-6EE3-3E15-511FF555F4DD}"/>
              </a:ext>
            </a:extLst>
          </p:cNvPr>
          <p:cNvPicPr>
            <a:picLocks noChangeAspect="1"/>
          </p:cNvPicPr>
          <p:nvPr/>
        </p:nvPicPr>
        <p:blipFill>
          <a:blip r:embed="rId2"/>
          <a:stretch>
            <a:fillRect/>
          </a:stretch>
        </p:blipFill>
        <p:spPr>
          <a:xfrm>
            <a:off x="897469" y="516465"/>
            <a:ext cx="5522987" cy="4270256"/>
          </a:xfrm>
          <a:prstGeom prst="rect">
            <a:avLst/>
          </a:prstGeom>
        </p:spPr>
      </p:pic>
      <p:pic>
        <p:nvPicPr>
          <p:cNvPr id="7" name="Picture 6">
            <a:extLst>
              <a:ext uri="{FF2B5EF4-FFF2-40B4-BE49-F238E27FC236}">
                <a16:creationId xmlns:a16="http://schemas.microsoft.com/office/drawing/2014/main" id="{80D6375D-8D84-FD15-8314-BBE8B0E54F6F}"/>
              </a:ext>
            </a:extLst>
          </p:cNvPr>
          <p:cNvPicPr>
            <a:picLocks noChangeAspect="1"/>
          </p:cNvPicPr>
          <p:nvPr/>
        </p:nvPicPr>
        <p:blipFill>
          <a:blip r:embed="rId3"/>
          <a:stretch>
            <a:fillRect/>
          </a:stretch>
        </p:blipFill>
        <p:spPr>
          <a:xfrm>
            <a:off x="770466" y="5037666"/>
            <a:ext cx="7806267" cy="1744134"/>
          </a:xfrm>
          <a:prstGeom prst="rect">
            <a:avLst/>
          </a:prstGeom>
        </p:spPr>
      </p:pic>
    </p:spTree>
    <p:extLst>
      <p:ext uri="{BB962C8B-B14F-4D97-AF65-F5344CB8AC3E}">
        <p14:creationId xmlns:p14="http://schemas.microsoft.com/office/powerpoint/2010/main" val="1807385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14E47-E6BF-A6F9-823F-9399EC08A279}"/>
              </a:ext>
            </a:extLst>
          </p:cNvPr>
          <p:cNvSpPr/>
          <p:nvPr/>
        </p:nvSpPr>
        <p:spPr>
          <a:xfrm>
            <a:off x="355600" y="270933"/>
            <a:ext cx="5528733" cy="42248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160405CE-7169-3246-AD38-596173D23808}"/>
              </a:ext>
            </a:extLst>
          </p:cNvPr>
          <p:cNvSpPr/>
          <p:nvPr/>
        </p:nvSpPr>
        <p:spPr>
          <a:xfrm>
            <a:off x="6375401" y="270933"/>
            <a:ext cx="5109066" cy="42058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5" name="Picture 4">
            <a:extLst>
              <a:ext uri="{FF2B5EF4-FFF2-40B4-BE49-F238E27FC236}">
                <a16:creationId xmlns:a16="http://schemas.microsoft.com/office/drawing/2014/main" id="{6F57E11D-4603-B81C-4498-D1AF1DED458E}"/>
              </a:ext>
            </a:extLst>
          </p:cNvPr>
          <p:cNvPicPr>
            <a:picLocks noChangeAspect="1"/>
          </p:cNvPicPr>
          <p:nvPr/>
        </p:nvPicPr>
        <p:blipFill>
          <a:blip r:embed="rId2"/>
          <a:stretch>
            <a:fillRect/>
          </a:stretch>
        </p:blipFill>
        <p:spPr>
          <a:xfrm>
            <a:off x="406400" y="289982"/>
            <a:ext cx="5410200" cy="4186768"/>
          </a:xfrm>
          <a:prstGeom prst="rect">
            <a:avLst/>
          </a:prstGeom>
        </p:spPr>
      </p:pic>
      <p:pic>
        <p:nvPicPr>
          <p:cNvPr id="7" name="Picture 6">
            <a:extLst>
              <a:ext uri="{FF2B5EF4-FFF2-40B4-BE49-F238E27FC236}">
                <a16:creationId xmlns:a16="http://schemas.microsoft.com/office/drawing/2014/main" id="{785F6B64-82ED-99AA-0F0B-092890A77E2F}"/>
              </a:ext>
            </a:extLst>
          </p:cNvPr>
          <p:cNvPicPr>
            <a:picLocks noChangeAspect="1"/>
          </p:cNvPicPr>
          <p:nvPr/>
        </p:nvPicPr>
        <p:blipFill>
          <a:blip r:embed="rId3"/>
          <a:stretch>
            <a:fillRect/>
          </a:stretch>
        </p:blipFill>
        <p:spPr>
          <a:xfrm>
            <a:off x="6399865" y="270933"/>
            <a:ext cx="5084602" cy="4205817"/>
          </a:xfrm>
          <a:prstGeom prst="rect">
            <a:avLst/>
          </a:prstGeom>
        </p:spPr>
      </p:pic>
      <p:sp>
        <p:nvSpPr>
          <p:cNvPr id="8" name="Rectangle 7">
            <a:extLst>
              <a:ext uri="{FF2B5EF4-FFF2-40B4-BE49-F238E27FC236}">
                <a16:creationId xmlns:a16="http://schemas.microsoft.com/office/drawing/2014/main" id="{81E338B2-30FC-88F6-A834-AFB07D1FFEB5}"/>
              </a:ext>
            </a:extLst>
          </p:cNvPr>
          <p:cNvSpPr/>
          <p:nvPr/>
        </p:nvSpPr>
        <p:spPr>
          <a:xfrm>
            <a:off x="355600" y="4650315"/>
            <a:ext cx="11226800" cy="15748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1600" b="1" dirty="0"/>
              <a:t>Distribution of Flight Distance </a:t>
            </a:r>
          </a:p>
          <a:p>
            <a:pPr marL="285750" indent="-285750">
              <a:buFont typeface="Wingdings" panose="05000000000000000000" pitchFamily="2" charset="2"/>
              <a:buChar char="ü"/>
            </a:pPr>
            <a:r>
              <a:rPr lang="en-GB" sz="1500" dirty="0"/>
              <a:t>Mean Flight Distance: ~2504 km</a:t>
            </a:r>
          </a:p>
          <a:p>
            <a:pPr marL="285750" indent="-285750">
              <a:buFont typeface="Wingdings" panose="05000000000000000000" pitchFamily="2" charset="2"/>
              <a:buChar char="ü"/>
            </a:pPr>
            <a:r>
              <a:rPr lang="en-GB" sz="1500" dirty="0"/>
              <a:t>Median Flight Distance: ~2511 km → close to the mean so it appears to be normally distributed</a:t>
            </a:r>
          </a:p>
          <a:p>
            <a:pPr marL="285750" indent="-285750">
              <a:buFont typeface="Wingdings" panose="05000000000000000000" pitchFamily="2" charset="2"/>
              <a:buChar char="ü"/>
            </a:pPr>
            <a:r>
              <a:rPr lang="en-GB" sz="1500" dirty="0"/>
              <a:t>The majority of birds migrated between ~1700 km and ~2800 km</a:t>
            </a:r>
          </a:p>
          <a:p>
            <a:pPr marL="285750" indent="-285750">
              <a:buFont typeface="Wingdings" panose="05000000000000000000" pitchFamily="2" charset="2"/>
              <a:buChar char="ü"/>
            </a:pPr>
            <a:r>
              <a:rPr lang="en-GB" sz="1500" dirty="0"/>
              <a:t>While there are a few long-distance outliers (many birds migrated as far as 4400 km), they are not typically representative of all migratory species that travel long distances.</a:t>
            </a:r>
          </a:p>
          <a:p>
            <a:pPr algn="ctr"/>
            <a:endParaRPr lang="en-US" dirty="0"/>
          </a:p>
        </p:txBody>
      </p:sp>
    </p:spTree>
    <p:extLst>
      <p:ext uri="{BB962C8B-B14F-4D97-AF65-F5344CB8AC3E}">
        <p14:creationId xmlns:p14="http://schemas.microsoft.com/office/powerpoint/2010/main" val="20338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AB95A6-82D1-C87E-DB77-306FED576748}"/>
              </a:ext>
            </a:extLst>
          </p:cNvPr>
          <p:cNvSpPr/>
          <p:nvPr/>
        </p:nvSpPr>
        <p:spPr>
          <a:xfrm>
            <a:off x="254001" y="279401"/>
            <a:ext cx="11074400" cy="7789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3600" b="1" dirty="0">
                <a:latin typeface="+mj-lt"/>
                <a:cs typeface="Times New Roman" panose="02020603050405020304" pitchFamily="18" charset="0"/>
              </a:rPr>
              <a:t>Bivariate Analysis</a:t>
            </a:r>
          </a:p>
        </p:txBody>
      </p:sp>
      <p:sp>
        <p:nvSpPr>
          <p:cNvPr id="3" name="Rectangle 2">
            <a:extLst>
              <a:ext uri="{FF2B5EF4-FFF2-40B4-BE49-F238E27FC236}">
                <a16:creationId xmlns:a16="http://schemas.microsoft.com/office/drawing/2014/main" id="{66E796A8-EBFE-7257-67F1-41C258776783}"/>
              </a:ext>
            </a:extLst>
          </p:cNvPr>
          <p:cNvSpPr/>
          <p:nvPr/>
        </p:nvSpPr>
        <p:spPr>
          <a:xfrm>
            <a:off x="254001" y="1270000"/>
            <a:ext cx="6087532" cy="3505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A1D62CBD-3065-DF0D-6CBE-9C885F964760}"/>
              </a:ext>
            </a:extLst>
          </p:cNvPr>
          <p:cNvSpPr/>
          <p:nvPr/>
        </p:nvSpPr>
        <p:spPr>
          <a:xfrm>
            <a:off x="254001" y="4843773"/>
            <a:ext cx="11724639" cy="13843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GB" sz="1500" b="1" dirty="0"/>
              <a:t>Flight_Distance_km vs Flight_Duration_hours </a:t>
            </a:r>
          </a:p>
          <a:p>
            <a:pPr marL="285750" indent="-285750">
              <a:buFont typeface="Wingdings" panose="05000000000000000000" pitchFamily="2" charset="2"/>
              <a:buChar char="ü"/>
            </a:pPr>
            <a:r>
              <a:rPr lang="en-GB" dirty="0"/>
              <a:t>As distance travelled increases, time of flight also increases which is shown by the positive correlation between both variables (flight distance and time). </a:t>
            </a:r>
          </a:p>
          <a:p>
            <a:pPr marL="285750" indent="-285750">
              <a:buFont typeface="Wingdings" panose="05000000000000000000" pitchFamily="2" charset="2"/>
              <a:buChar char="ü"/>
            </a:pPr>
            <a:r>
              <a:rPr lang="en-GB" dirty="0"/>
              <a:t>There is, however, a notable level of variance or spread among the scatter of this data indicating it is affected by a number of factors such as; weather conditions (wind patterns), length of stops, bird behaviour (different species) or the complexity of the flight paths.</a:t>
            </a:r>
          </a:p>
          <a:p>
            <a:pPr algn="ctr"/>
            <a:endParaRPr lang="en-US" dirty="0"/>
          </a:p>
        </p:txBody>
      </p:sp>
      <p:pic>
        <p:nvPicPr>
          <p:cNvPr id="6" name="Picture 5">
            <a:extLst>
              <a:ext uri="{FF2B5EF4-FFF2-40B4-BE49-F238E27FC236}">
                <a16:creationId xmlns:a16="http://schemas.microsoft.com/office/drawing/2014/main" id="{1055ED25-80A3-8A3A-27D7-3EC028BC6486}"/>
              </a:ext>
            </a:extLst>
          </p:cNvPr>
          <p:cNvPicPr>
            <a:picLocks noChangeAspect="1"/>
          </p:cNvPicPr>
          <p:nvPr/>
        </p:nvPicPr>
        <p:blipFill>
          <a:blip r:embed="rId2"/>
          <a:stretch>
            <a:fillRect/>
          </a:stretch>
        </p:blipFill>
        <p:spPr>
          <a:xfrm>
            <a:off x="330200" y="1338576"/>
            <a:ext cx="5943600" cy="3368045"/>
          </a:xfrm>
          <a:prstGeom prst="rect">
            <a:avLst/>
          </a:prstGeom>
        </p:spPr>
      </p:pic>
      <p:pic>
        <p:nvPicPr>
          <p:cNvPr id="10" name="Picture 9">
            <a:extLst>
              <a:ext uri="{FF2B5EF4-FFF2-40B4-BE49-F238E27FC236}">
                <a16:creationId xmlns:a16="http://schemas.microsoft.com/office/drawing/2014/main" id="{3525134A-6CD2-AC22-0358-59D1FA9882EF}"/>
              </a:ext>
            </a:extLst>
          </p:cNvPr>
          <p:cNvPicPr>
            <a:picLocks noChangeAspect="1"/>
          </p:cNvPicPr>
          <p:nvPr/>
        </p:nvPicPr>
        <p:blipFill>
          <a:blip r:embed="rId3"/>
          <a:stretch>
            <a:fillRect/>
          </a:stretch>
        </p:blipFill>
        <p:spPr>
          <a:xfrm>
            <a:off x="6587065" y="1269998"/>
            <a:ext cx="4834469" cy="3505199"/>
          </a:xfrm>
          <a:prstGeom prst="rect">
            <a:avLst/>
          </a:prstGeom>
        </p:spPr>
      </p:pic>
    </p:spTree>
    <p:extLst>
      <p:ext uri="{BB962C8B-B14F-4D97-AF65-F5344CB8AC3E}">
        <p14:creationId xmlns:p14="http://schemas.microsoft.com/office/powerpoint/2010/main" val="276430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375ADE-32ED-D704-08F2-CDDEE27C0430}"/>
              </a:ext>
            </a:extLst>
          </p:cNvPr>
          <p:cNvSpPr/>
          <p:nvPr/>
        </p:nvSpPr>
        <p:spPr>
          <a:xfrm>
            <a:off x="414866" y="304800"/>
            <a:ext cx="7569201" cy="3860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B7551A03-5DBE-B7F3-A2CF-E106FB3341DE}"/>
              </a:ext>
            </a:extLst>
          </p:cNvPr>
          <p:cNvPicPr>
            <a:picLocks noChangeAspect="1"/>
          </p:cNvPicPr>
          <p:nvPr/>
        </p:nvPicPr>
        <p:blipFill>
          <a:blip r:embed="rId2"/>
          <a:stretch>
            <a:fillRect/>
          </a:stretch>
        </p:blipFill>
        <p:spPr>
          <a:xfrm>
            <a:off x="550332" y="364067"/>
            <a:ext cx="7306735" cy="3683000"/>
          </a:xfrm>
          <a:prstGeom prst="rect">
            <a:avLst/>
          </a:prstGeom>
        </p:spPr>
      </p:pic>
      <p:pic>
        <p:nvPicPr>
          <p:cNvPr id="8" name="Picture 7">
            <a:extLst>
              <a:ext uri="{FF2B5EF4-FFF2-40B4-BE49-F238E27FC236}">
                <a16:creationId xmlns:a16="http://schemas.microsoft.com/office/drawing/2014/main" id="{A425C14F-C93D-A943-FF92-05B41AD32938}"/>
              </a:ext>
            </a:extLst>
          </p:cNvPr>
          <p:cNvPicPr>
            <a:picLocks noChangeAspect="1"/>
          </p:cNvPicPr>
          <p:nvPr/>
        </p:nvPicPr>
        <p:blipFill>
          <a:blip r:embed="rId3"/>
          <a:stretch>
            <a:fillRect/>
          </a:stretch>
        </p:blipFill>
        <p:spPr>
          <a:xfrm>
            <a:off x="8119533" y="787401"/>
            <a:ext cx="3852334" cy="2548467"/>
          </a:xfrm>
          <a:prstGeom prst="rect">
            <a:avLst/>
          </a:prstGeom>
        </p:spPr>
      </p:pic>
      <p:sp>
        <p:nvSpPr>
          <p:cNvPr id="9" name="Rectangle 8">
            <a:extLst>
              <a:ext uri="{FF2B5EF4-FFF2-40B4-BE49-F238E27FC236}">
                <a16:creationId xmlns:a16="http://schemas.microsoft.com/office/drawing/2014/main" id="{B2157343-804B-3114-2410-F5AF53F8A418}"/>
              </a:ext>
            </a:extLst>
          </p:cNvPr>
          <p:cNvSpPr/>
          <p:nvPr/>
        </p:nvSpPr>
        <p:spPr>
          <a:xfrm>
            <a:off x="414866" y="4419598"/>
            <a:ext cx="11557001" cy="16510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GB" sz="1600" b="1" dirty="0"/>
              <a:t>                                                                                Species vs </a:t>
            </a:r>
            <a:r>
              <a:rPr lang="en-GB" sz="1600" b="1" dirty="0" err="1"/>
              <a:t>Migration_Reason</a:t>
            </a:r>
            <a:endParaRPr lang="en-GB" sz="1600" b="1" dirty="0"/>
          </a:p>
          <a:p>
            <a:pPr marL="285750" indent="-285750">
              <a:buFont typeface="Wingdings" panose="05000000000000000000" pitchFamily="2" charset="2"/>
              <a:buChar char="ü"/>
            </a:pPr>
            <a:r>
              <a:rPr lang="en-GB" sz="1500" dirty="0"/>
              <a:t>The primary reasons for migration for most animals are related to feeding and breeding.</a:t>
            </a:r>
          </a:p>
          <a:p>
            <a:pPr marL="285750" indent="-285750">
              <a:buFont typeface="Wingdings" panose="05000000000000000000" pitchFamily="2" charset="2"/>
              <a:buChar char="ü"/>
            </a:pPr>
            <a:r>
              <a:rPr lang="en-GB" sz="1500" dirty="0"/>
              <a:t>Each type of species has its own unique reasons for migrating.</a:t>
            </a:r>
          </a:p>
          <a:p>
            <a:pPr marL="285750" indent="-285750">
              <a:buFont typeface="Wingdings" panose="05000000000000000000" pitchFamily="2" charset="2"/>
              <a:buChar char="ü"/>
            </a:pPr>
            <a:r>
              <a:rPr lang="en-GB" sz="1500" dirty="0"/>
              <a:t>Goose &amp; Stork: Predatory avoidance and breeding drive migration.</a:t>
            </a:r>
          </a:p>
          <a:p>
            <a:pPr marL="285750" indent="-285750">
              <a:buFont typeface="Wingdings" panose="05000000000000000000" pitchFamily="2" charset="2"/>
              <a:buChar char="ü"/>
            </a:pPr>
            <a:r>
              <a:rPr lang="en-GB" sz="1500" dirty="0"/>
              <a:t>Hawk: Affected by climate change.</a:t>
            </a:r>
          </a:p>
          <a:p>
            <a:pPr marL="285750" indent="-285750">
              <a:buFont typeface="Wingdings" panose="05000000000000000000" pitchFamily="2" charset="2"/>
              <a:buChar char="ü"/>
            </a:pPr>
            <a:r>
              <a:rPr lang="en-GB" sz="1500" dirty="0"/>
              <a:t>Warbler: Has the highest frequency of migration driven by feeding.</a:t>
            </a:r>
          </a:p>
          <a:p>
            <a:pPr marL="285750" indent="-285750">
              <a:buFont typeface="Wingdings" panose="05000000000000000000" pitchFamily="2" charset="2"/>
              <a:buChar char="ü"/>
            </a:pPr>
            <a:r>
              <a:rPr lang="en-GB" sz="1500" dirty="0"/>
              <a:t>Requires a balance of reasons for migration rather than one dominant reason.</a:t>
            </a:r>
            <a:endParaRPr lang="en-US" sz="1500" dirty="0"/>
          </a:p>
        </p:txBody>
      </p:sp>
    </p:spTree>
    <p:extLst>
      <p:ext uri="{BB962C8B-B14F-4D97-AF65-F5344CB8AC3E}">
        <p14:creationId xmlns:p14="http://schemas.microsoft.com/office/powerpoint/2010/main" val="2962077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D11442-8B61-2C25-7082-D79FD6E1CF12}"/>
              </a:ext>
            </a:extLst>
          </p:cNvPr>
          <p:cNvSpPr/>
          <p:nvPr/>
        </p:nvSpPr>
        <p:spPr>
          <a:xfrm>
            <a:off x="330200" y="296334"/>
            <a:ext cx="7484533" cy="47328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B827DD21-30F5-808A-188E-626CD5BF0D07}"/>
              </a:ext>
            </a:extLst>
          </p:cNvPr>
          <p:cNvPicPr>
            <a:picLocks noChangeAspect="1"/>
          </p:cNvPicPr>
          <p:nvPr/>
        </p:nvPicPr>
        <p:blipFill>
          <a:blip r:embed="rId2"/>
          <a:stretch>
            <a:fillRect/>
          </a:stretch>
        </p:blipFill>
        <p:spPr>
          <a:xfrm>
            <a:off x="364066" y="374224"/>
            <a:ext cx="7416800" cy="4577085"/>
          </a:xfrm>
          <a:prstGeom prst="rect">
            <a:avLst/>
          </a:prstGeom>
        </p:spPr>
      </p:pic>
      <p:pic>
        <p:nvPicPr>
          <p:cNvPr id="10" name="Picture 9">
            <a:extLst>
              <a:ext uri="{FF2B5EF4-FFF2-40B4-BE49-F238E27FC236}">
                <a16:creationId xmlns:a16="http://schemas.microsoft.com/office/drawing/2014/main" id="{719DCCE2-6139-1E95-0369-7FCF5F281A33}"/>
              </a:ext>
            </a:extLst>
          </p:cNvPr>
          <p:cNvPicPr>
            <a:picLocks noChangeAspect="1"/>
          </p:cNvPicPr>
          <p:nvPr/>
        </p:nvPicPr>
        <p:blipFill>
          <a:blip r:embed="rId3"/>
          <a:stretch>
            <a:fillRect/>
          </a:stretch>
        </p:blipFill>
        <p:spPr>
          <a:xfrm>
            <a:off x="7938347" y="814494"/>
            <a:ext cx="4174066" cy="3175163"/>
          </a:xfrm>
          <a:prstGeom prst="rect">
            <a:avLst/>
          </a:prstGeom>
        </p:spPr>
      </p:pic>
      <p:sp>
        <p:nvSpPr>
          <p:cNvPr id="11" name="Rectangle 10">
            <a:extLst>
              <a:ext uri="{FF2B5EF4-FFF2-40B4-BE49-F238E27FC236}">
                <a16:creationId xmlns:a16="http://schemas.microsoft.com/office/drawing/2014/main" id="{A64A2CAD-EC3F-BE95-B6ED-105B5165F6D3}"/>
              </a:ext>
            </a:extLst>
          </p:cNvPr>
          <p:cNvSpPr/>
          <p:nvPr/>
        </p:nvSpPr>
        <p:spPr>
          <a:xfrm>
            <a:off x="317498" y="5190066"/>
            <a:ext cx="8441267" cy="1371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b="1" dirty="0"/>
          </a:p>
          <a:p>
            <a:pPr algn="ctr"/>
            <a:r>
              <a:rPr lang="en-GB" b="1" dirty="0"/>
              <a:t>Migration Success by Species </a:t>
            </a:r>
          </a:p>
          <a:p>
            <a:pPr marL="285750" indent="-285750">
              <a:buFont typeface="Wingdings" panose="05000000000000000000" pitchFamily="2" charset="2"/>
              <a:buChar char="ü"/>
            </a:pPr>
            <a:r>
              <a:rPr lang="en-GB" dirty="0"/>
              <a:t>Out of all migratory flyways, there are more failed migrations than there are successful migrations for all species combined.</a:t>
            </a:r>
          </a:p>
          <a:p>
            <a:pPr marL="285750" indent="-285750">
              <a:buFont typeface="Wingdings" panose="05000000000000000000" pitchFamily="2" charset="2"/>
              <a:buChar char="ü"/>
            </a:pPr>
            <a:r>
              <a:rPr lang="en-GB" dirty="0"/>
              <a:t> The Warbler and Swallow have experienced the most successful migrations and the Crane and Eagle species have experienced proportionately higher levels of failure to success; this is due to both long distance migrations and their greater level of sensitivity to changes in the environment.</a:t>
            </a:r>
          </a:p>
          <a:p>
            <a:pPr algn="ctr"/>
            <a:endParaRPr lang="en-US" dirty="0"/>
          </a:p>
        </p:txBody>
      </p:sp>
    </p:spTree>
    <p:extLst>
      <p:ext uri="{BB962C8B-B14F-4D97-AF65-F5344CB8AC3E}">
        <p14:creationId xmlns:p14="http://schemas.microsoft.com/office/powerpoint/2010/main" val="1711103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13B9DD-FF96-6B2D-2C0E-CAA6EE880659}"/>
              </a:ext>
            </a:extLst>
          </p:cNvPr>
          <p:cNvSpPr/>
          <p:nvPr/>
        </p:nvSpPr>
        <p:spPr>
          <a:xfrm>
            <a:off x="389467" y="211667"/>
            <a:ext cx="5706533" cy="4241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4464B503-014A-3ADA-A056-8FD6C48819C1}"/>
              </a:ext>
            </a:extLst>
          </p:cNvPr>
          <p:cNvPicPr>
            <a:picLocks noChangeAspect="1"/>
          </p:cNvPicPr>
          <p:nvPr/>
        </p:nvPicPr>
        <p:blipFill>
          <a:blip r:embed="rId2"/>
          <a:stretch>
            <a:fillRect/>
          </a:stretch>
        </p:blipFill>
        <p:spPr>
          <a:xfrm>
            <a:off x="650234" y="380995"/>
            <a:ext cx="5303531" cy="4072471"/>
          </a:xfrm>
          <a:prstGeom prst="rect">
            <a:avLst/>
          </a:prstGeom>
        </p:spPr>
      </p:pic>
      <p:pic>
        <p:nvPicPr>
          <p:cNvPr id="6" name="Picture 5">
            <a:extLst>
              <a:ext uri="{FF2B5EF4-FFF2-40B4-BE49-F238E27FC236}">
                <a16:creationId xmlns:a16="http://schemas.microsoft.com/office/drawing/2014/main" id="{7768B771-52B3-AACB-E109-332B1D71017E}"/>
              </a:ext>
            </a:extLst>
          </p:cNvPr>
          <p:cNvPicPr>
            <a:picLocks noChangeAspect="1"/>
          </p:cNvPicPr>
          <p:nvPr/>
        </p:nvPicPr>
        <p:blipFill>
          <a:blip r:embed="rId3"/>
          <a:stretch>
            <a:fillRect/>
          </a:stretch>
        </p:blipFill>
        <p:spPr>
          <a:xfrm>
            <a:off x="6214532" y="719672"/>
            <a:ext cx="5770217" cy="2794063"/>
          </a:xfrm>
          <a:prstGeom prst="rect">
            <a:avLst/>
          </a:prstGeom>
        </p:spPr>
      </p:pic>
      <p:sp>
        <p:nvSpPr>
          <p:cNvPr id="9" name="Rectangle 8">
            <a:extLst>
              <a:ext uri="{FF2B5EF4-FFF2-40B4-BE49-F238E27FC236}">
                <a16:creationId xmlns:a16="http://schemas.microsoft.com/office/drawing/2014/main" id="{FD571CB0-1D50-CEA2-AF1B-E3E344B3690E}"/>
              </a:ext>
            </a:extLst>
          </p:cNvPr>
          <p:cNvSpPr/>
          <p:nvPr/>
        </p:nvSpPr>
        <p:spPr>
          <a:xfrm>
            <a:off x="389467" y="4622794"/>
            <a:ext cx="11595282" cy="15155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endParaRPr lang="en-US" dirty="0"/>
          </a:p>
          <a:p>
            <a:pPr algn="ctr"/>
            <a:r>
              <a:rPr lang="en-US" sz="1600" b="1" dirty="0" err="1"/>
              <a:t>Flight_Distance_km</a:t>
            </a:r>
            <a:r>
              <a:rPr lang="en-US" sz="1600" b="1" dirty="0"/>
              <a:t> across Habitat</a:t>
            </a:r>
          </a:p>
          <a:p>
            <a:pPr algn="ctr"/>
            <a:endParaRPr lang="en-US" dirty="0"/>
          </a:p>
          <a:p>
            <a:pPr marL="285750" indent="-285750">
              <a:buFont typeface="Wingdings" panose="05000000000000000000" pitchFamily="2" charset="2"/>
              <a:buChar char="ü"/>
            </a:pPr>
            <a:r>
              <a:rPr lang="en-US" dirty="0"/>
              <a:t> </a:t>
            </a:r>
            <a:r>
              <a:rPr lang="en-US" sz="1500" dirty="0"/>
              <a:t>Migration distance (median) is consistent (~2,400-2,600 km) across all habitats.</a:t>
            </a:r>
          </a:p>
          <a:p>
            <a:pPr marL="285750" indent="-285750">
              <a:buFont typeface="Wingdings" panose="05000000000000000000" pitchFamily="2" charset="2"/>
              <a:buChar char="ü"/>
            </a:pPr>
            <a:r>
              <a:rPr lang="en-US" sz="1500" dirty="0"/>
              <a:t>Examples of habitats include:</a:t>
            </a:r>
          </a:p>
          <a:p>
            <a:pPr marL="285750" indent="-285750">
              <a:buFont typeface="Wingdings" panose="05000000000000000000" pitchFamily="2" charset="2"/>
              <a:buChar char="ü"/>
            </a:pPr>
            <a:r>
              <a:rPr lang="en-US" sz="1500" dirty="0"/>
              <a:t>Mountain and Wetland habitats typically migrate longer distances due to the presence of higher "outlier" distances.</a:t>
            </a:r>
          </a:p>
          <a:p>
            <a:pPr marL="285750" indent="-285750">
              <a:buFont typeface="Wingdings" panose="05000000000000000000" pitchFamily="2" charset="2"/>
              <a:buChar char="ü"/>
            </a:pPr>
            <a:r>
              <a:rPr lang="en-US" sz="1500" dirty="0"/>
              <a:t>Forest and Grassland habitats have slightly more clustered populations based on distance migrated.</a:t>
            </a:r>
          </a:p>
          <a:p>
            <a:pPr marL="285750" indent="-285750">
              <a:buFont typeface="Wingdings" panose="05000000000000000000" pitchFamily="2" charset="2"/>
              <a:buChar char="ü"/>
            </a:pPr>
            <a:endParaRPr lang="en-US" dirty="0"/>
          </a:p>
          <a:p>
            <a:pPr algn="ctr"/>
            <a:endParaRPr lang="en-US" dirty="0"/>
          </a:p>
        </p:txBody>
      </p:sp>
    </p:spTree>
    <p:extLst>
      <p:ext uri="{BB962C8B-B14F-4D97-AF65-F5344CB8AC3E}">
        <p14:creationId xmlns:p14="http://schemas.microsoft.com/office/powerpoint/2010/main" val="812828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03BF80-C0A0-CFF6-2605-0398ED78417B}"/>
              </a:ext>
            </a:extLst>
          </p:cNvPr>
          <p:cNvSpPr/>
          <p:nvPr/>
        </p:nvSpPr>
        <p:spPr>
          <a:xfrm>
            <a:off x="694265" y="342055"/>
            <a:ext cx="6138333" cy="39285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2A6D532E-F05F-8E13-EBE9-DC93AA44FD20}"/>
              </a:ext>
            </a:extLst>
          </p:cNvPr>
          <p:cNvPicPr>
            <a:picLocks noChangeAspect="1"/>
          </p:cNvPicPr>
          <p:nvPr/>
        </p:nvPicPr>
        <p:blipFill>
          <a:blip r:embed="rId2"/>
          <a:stretch>
            <a:fillRect/>
          </a:stretch>
        </p:blipFill>
        <p:spPr>
          <a:xfrm>
            <a:off x="883067" y="406400"/>
            <a:ext cx="5760731" cy="3799845"/>
          </a:xfrm>
          <a:prstGeom prst="rect">
            <a:avLst/>
          </a:prstGeom>
        </p:spPr>
      </p:pic>
      <p:pic>
        <p:nvPicPr>
          <p:cNvPr id="6" name="Picture 5">
            <a:extLst>
              <a:ext uri="{FF2B5EF4-FFF2-40B4-BE49-F238E27FC236}">
                <a16:creationId xmlns:a16="http://schemas.microsoft.com/office/drawing/2014/main" id="{EF8DB706-93B6-F292-472F-9BCB0F2CA4EF}"/>
              </a:ext>
            </a:extLst>
          </p:cNvPr>
          <p:cNvPicPr>
            <a:picLocks noChangeAspect="1"/>
          </p:cNvPicPr>
          <p:nvPr/>
        </p:nvPicPr>
        <p:blipFill>
          <a:blip r:embed="rId3"/>
          <a:stretch>
            <a:fillRect/>
          </a:stretch>
        </p:blipFill>
        <p:spPr>
          <a:xfrm>
            <a:off x="207433" y="4680829"/>
            <a:ext cx="11777133" cy="1432104"/>
          </a:xfrm>
          <a:prstGeom prst="rect">
            <a:avLst/>
          </a:prstGeom>
        </p:spPr>
      </p:pic>
      <p:sp>
        <p:nvSpPr>
          <p:cNvPr id="7" name="Rectangle 6">
            <a:extLst>
              <a:ext uri="{FF2B5EF4-FFF2-40B4-BE49-F238E27FC236}">
                <a16:creationId xmlns:a16="http://schemas.microsoft.com/office/drawing/2014/main" id="{B805A264-F6FE-3F1C-D35C-DD8AA4F710AE}"/>
              </a:ext>
            </a:extLst>
          </p:cNvPr>
          <p:cNvSpPr/>
          <p:nvPr/>
        </p:nvSpPr>
        <p:spPr>
          <a:xfrm>
            <a:off x="7142481" y="342055"/>
            <a:ext cx="4842085" cy="39285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sz="2500" b="1" dirty="0"/>
          </a:p>
          <a:p>
            <a:pPr algn="ctr"/>
            <a:r>
              <a:rPr lang="en-GB" sz="2500" b="1" dirty="0"/>
              <a:t>Flight_Duration_hours across Migration_End_Month</a:t>
            </a:r>
          </a:p>
          <a:p>
            <a:pPr algn="ctr"/>
            <a:endParaRPr lang="en-GB" sz="2500" dirty="0"/>
          </a:p>
          <a:p>
            <a:pPr marL="342900" indent="-342900">
              <a:buFont typeface="Wingdings" panose="05000000000000000000" pitchFamily="2" charset="2"/>
              <a:buChar char="ü"/>
            </a:pPr>
            <a:r>
              <a:rPr lang="en-GB" sz="1700" dirty="0"/>
              <a:t>Occurrences of migration happen primarily March to June and October to December. Median Flight Duration has been stable (~45-50 hours) for most months of the year.</a:t>
            </a:r>
          </a:p>
          <a:p>
            <a:endParaRPr lang="en-GB" sz="1700" dirty="0"/>
          </a:p>
          <a:p>
            <a:pPr marL="342900" indent="-342900">
              <a:buFont typeface="Wingdings" panose="05000000000000000000" pitchFamily="2" charset="2"/>
              <a:buChar char="ü"/>
            </a:pPr>
            <a:r>
              <a:rPr lang="en-GB" sz="1700" dirty="0"/>
              <a:t> Between April and June; there appears to be an increase in variability in Length of Flight. April and June show the most significant Outlier ("lengthened") duration</a:t>
            </a:r>
            <a:r>
              <a:rPr lang="en-GB" sz="1800" dirty="0"/>
              <a:t>.</a:t>
            </a:r>
          </a:p>
          <a:p>
            <a:pPr algn="ctr"/>
            <a:endParaRPr lang="en-US" dirty="0"/>
          </a:p>
        </p:txBody>
      </p:sp>
    </p:spTree>
    <p:extLst>
      <p:ext uri="{BB962C8B-B14F-4D97-AF65-F5344CB8AC3E}">
        <p14:creationId xmlns:p14="http://schemas.microsoft.com/office/powerpoint/2010/main" val="991745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66AA83-0AE4-C0BA-1DA1-375EA6BB32D9}"/>
              </a:ext>
            </a:extLst>
          </p:cNvPr>
          <p:cNvSpPr/>
          <p:nvPr/>
        </p:nvSpPr>
        <p:spPr>
          <a:xfrm>
            <a:off x="440266" y="194734"/>
            <a:ext cx="11472333" cy="6265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4000" b="1" dirty="0">
                <a:latin typeface="+mj-lt"/>
                <a:cs typeface="Times New Roman" panose="02020603050405020304" pitchFamily="18" charset="0"/>
              </a:rPr>
              <a:t>Multivariate Analysis</a:t>
            </a:r>
          </a:p>
        </p:txBody>
      </p:sp>
      <p:sp>
        <p:nvSpPr>
          <p:cNvPr id="3" name="Rectangle 2">
            <a:extLst>
              <a:ext uri="{FF2B5EF4-FFF2-40B4-BE49-F238E27FC236}">
                <a16:creationId xmlns:a16="http://schemas.microsoft.com/office/drawing/2014/main" id="{2451FFB1-BA81-9EF7-9EC0-AB174C7B9103}"/>
              </a:ext>
            </a:extLst>
          </p:cNvPr>
          <p:cNvSpPr/>
          <p:nvPr/>
        </p:nvSpPr>
        <p:spPr>
          <a:xfrm>
            <a:off x="440266" y="1100666"/>
            <a:ext cx="11472333" cy="40216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92543DA3-67B3-3C2F-EDBC-7D52C68EFE32}"/>
              </a:ext>
            </a:extLst>
          </p:cNvPr>
          <p:cNvSpPr/>
          <p:nvPr/>
        </p:nvSpPr>
        <p:spPr>
          <a:xfrm>
            <a:off x="440266" y="5257800"/>
            <a:ext cx="11426024" cy="10058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a:p>
            <a:pPr algn="ctr"/>
            <a:r>
              <a:rPr lang="en-GB" sz="1600" b="1" dirty="0"/>
              <a:t>Average Flight Distance by Habitat &amp; Weather</a:t>
            </a:r>
          </a:p>
          <a:p>
            <a:pPr marL="285750" indent="-285750">
              <a:buFont typeface="Wingdings" panose="05000000000000000000" pitchFamily="2" charset="2"/>
              <a:buChar char="ü"/>
            </a:pPr>
            <a:r>
              <a:rPr lang="en-GB" dirty="0"/>
              <a:t>On average, birds migrate about 2450-2550 km regardless of their environment. </a:t>
            </a:r>
          </a:p>
          <a:p>
            <a:pPr marL="285750" indent="-285750">
              <a:buFont typeface="Wingdings" panose="05000000000000000000" pitchFamily="2" charset="2"/>
              <a:buChar char="ü"/>
            </a:pPr>
            <a:r>
              <a:rPr lang="en-GB" dirty="0"/>
              <a:t>However, birds living in mountains and wetlands migrate slightly further than those living in other places due to longer migratory paths.</a:t>
            </a:r>
          </a:p>
          <a:p>
            <a:pPr marL="285750" indent="-285750">
              <a:buFont typeface="Wingdings" panose="05000000000000000000" pitchFamily="2" charset="2"/>
              <a:buChar char="ü"/>
            </a:pPr>
            <a:r>
              <a:rPr lang="en-GB" dirty="0"/>
              <a:t>Misty weather has decreased amounts of travel due to limited visibility and difficulty navigating through the mist.</a:t>
            </a:r>
          </a:p>
          <a:p>
            <a:pPr algn="ctr"/>
            <a:endParaRPr lang="en-US" dirty="0"/>
          </a:p>
        </p:txBody>
      </p:sp>
      <p:pic>
        <p:nvPicPr>
          <p:cNvPr id="9" name="Picture 8">
            <a:extLst>
              <a:ext uri="{FF2B5EF4-FFF2-40B4-BE49-F238E27FC236}">
                <a16:creationId xmlns:a16="http://schemas.microsoft.com/office/drawing/2014/main" id="{37974BFE-2A3D-1BAB-0974-C8809163614D}"/>
              </a:ext>
            </a:extLst>
          </p:cNvPr>
          <p:cNvPicPr>
            <a:picLocks noChangeAspect="1"/>
          </p:cNvPicPr>
          <p:nvPr/>
        </p:nvPicPr>
        <p:blipFill>
          <a:blip r:embed="rId2"/>
          <a:stretch>
            <a:fillRect/>
          </a:stretch>
        </p:blipFill>
        <p:spPr>
          <a:xfrm>
            <a:off x="762001" y="1310640"/>
            <a:ext cx="10989734" cy="3586480"/>
          </a:xfrm>
          <a:prstGeom prst="rect">
            <a:avLst/>
          </a:prstGeom>
        </p:spPr>
      </p:pic>
    </p:spTree>
    <p:extLst>
      <p:ext uri="{BB962C8B-B14F-4D97-AF65-F5344CB8AC3E}">
        <p14:creationId xmlns:p14="http://schemas.microsoft.com/office/powerpoint/2010/main" val="266800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F96339-41F9-953B-8D83-09CEC6ED6E2A}"/>
              </a:ext>
            </a:extLst>
          </p:cNvPr>
          <p:cNvSpPr/>
          <p:nvPr/>
        </p:nvSpPr>
        <p:spPr>
          <a:xfrm>
            <a:off x="450427" y="114300"/>
            <a:ext cx="5791200" cy="38404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ED882C44-817A-F8E9-9FB0-5093C9F2134F}"/>
              </a:ext>
            </a:extLst>
          </p:cNvPr>
          <p:cNvSpPr/>
          <p:nvPr/>
        </p:nvSpPr>
        <p:spPr>
          <a:xfrm>
            <a:off x="6705599" y="157485"/>
            <a:ext cx="5147733" cy="37972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769FF16-35C7-C2AC-8B6C-F9A5FD2D291A}"/>
              </a:ext>
            </a:extLst>
          </p:cNvPr>
          <p:cNvSpPr/>
          <p:nvPr/>
        </p:nvSpPr>
        <p:spPr>
          <a:xfrm>
            <a:off x="541867" y="4175761"/>
            <a:ext cx="5791200" cy="19964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a:p>
            <a:pPr algn="ctr"/>
            <a:endParaRPr lang="en-GB" dirty="0"/>
          </a:p>
          <a:p>
            <a:pPr algn="ctr"/>
            <a:r>
              <a:rPr lang="en-GB" b="1" dirty="0"/>
              <a:t>Habitat Distribution across Regions</a:t>
            </a:r>
          </a:p>
          <a:p>
            <a:pPr marL="171450" indent="-171450">
              <a:buFont typeface="Wingdings" panose="05000000000000000000" pitchFamily="2" charset="2"/>
              <a:buChar char="ü"/>
            </a:pPr>
            <a:r>
              <a:rPr lang="en-GB" sz="1200" dirty="0"/>
              <a:t>South America has the highest number of habitat counts with a strong presence in Coastal (323) and Forest (304) Habitat types. </a:t>
            </a:r>
          </a:p>
          <a:p>
            <a:pPr marL="171450" indent="-171450">
              <a:buFont typeface="Wingdings" panose="05000000000000000000" pitchFamily="2" charset="2"/>
              <a:buChar char="ü"/>
            </a:pPr>
            <a:r>
              <a:rPr lang="en-GB" sz="1200" dirty="0"/>
              <a:t>In contrast, North America has a good distribution of Wetland (299) and Urban (294) Habitat Types. Africa and Asia display a fairly even distribution of Habitat Types with the absence of extreme dominance of any particular type.</a:t>
            </a:r>
          </a:p>
          <a:p>
            <a:pPr marL="171450" indent="-171450">
              <a:buFont typeface="Wingdings" panose="05000000000000000000" pitchFamily="2" charset="2"/>
              <a:buChar char="ü"/>
            </a:pPr>
            <a:r>
              <a:rPr lang="en-GB" sz="1200" dirty="0"/>
              <a:t> Europe shows a relatively lower amount of habitat counts compared to the other three continents, especially Coastal Habitat as there are only (236) Coastal Habitat counts reported</a:t>
            </a:r>
          </a:p>
          <a:p>
            <a:pPr algn="ctr"/>
            <a:endParaRPr lang="en-GB" dirty="0"/>
          </a:p>
          <a:p>
            <a:pPr algn="ctr"/>
            <a:endParaRPr lang="en-US" dirty="0"/>
          </a:p>
        </p:txBody>
      </p:sp>
      <p:sp>
        <p:nvSpPr>
          <p:cNvPr id="5" name="Rectangle 4">
            <a:extLst>
              <a:ext uri="{FF2B5EF4-FFF2-40B4-BE49-F238E27FC236}">
                <a16:creationId xmlns:a16="http://schemas.microsoft.com/office/drawing/2014/main" id="{A2E0C589-8032-4D2C-9AD4-17FE13D350A6}"/>
              </a:ext>
            </a:extLst>
          </p:cNvPr>
          <p:cNvSpPr/>
          <p:nvPr/>
        </p:nvSpPr>
        <p:spPr>
          <a:xfrm>
            <a:off x="6705598" y="4126230"/>
            <a:ext cx="5147733" cy="19964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b="1" dirty="0"/>
              <a:t>Average Flight Duration by Month</a:t>
            </a:r>
          </a:p>
          <a:p>
            <a:pPr marL="285750" indent="-285750">
              <a:buFont typeface="Wingdings" panose="05000000000000000000" pitchFamily="2" charset="2"/>
              <a:buChar char="ü"/>
            </a:pPr>
            <a:r>
              <a:rPr lang="en-GB" sz="1300" dirty="0"/>
              <a:t>While average flight times will remain fairly consistent at between 49.6-50.3 hours each month, there are differences in the average flight time for April (50.3 hours) and May (50.3 hours), which mountain migration flights appear to have taken more time than other months.</a:t>
            </a:r>
          </a:p>
          <a:p>
            <a:pPr marL="285750" indent="-285750">
              <a:buFont typeface="Wingdings" panose="05000000000000000000" pitchFamily="2" charset="2"/>
              <a:buChar char="ü"/>
            </a:pPr>
            <a:r>
              <a:rPr lang="en-GB" sz="1300" dirty="0"/>
              <a:t> December's average flight time is 49.6 hours, which means that flights from mountain to mountain may have been shorter or faster than those in other months.</a:t>
            </a:r>
          </a:p>
          <a:p>
            <a:pPr algn="ctr"/>
            <a:endParaRPr lang="en-US" dirty="0"/>
          </a:p>
        </p:txBody>
      </p:sp>
      <p:pic>
        <p:nvPicPr>
          <p:cNvPr id="7" name="Picture 6">
            <a:extLst>
              <a:ext uri="{FF2B5EF4-FFF2-40B4-BE49-F238E27FC236}">
                <a16:creationId xmlns:a16="http://schemas.microsoft.com/office/drawing/2014/main" id="{488B383B-61F9-E5EC-4D6D-EABC0E7DD1F3}"/>
              </a:ext>
            </a:extLst>
          </p:cNvPr>
          <p:cNvPicPr>
            <a:picLocks noChangeAspect="1"/>
          </p:cNvPicPr>
          <p:nvPr/>
        </p:nvPicPr>
        <p:blipFill>
          <a:blip r:embed="rId3"/>
          <a:stretch>
            <a:fillRect/>
          </a:stretch>
        </p:blipFill>
        <p:spPr>
          <a:xfrm>
            <a:off x="723217" y="426719"/>
            <a:ext cx="5428499" cy="3436622"/>
          </a:xfrm>
          <a:prstGeom prst="rect">
            <a:avLst/>
          </a:prstGeom>
        </p:spPr>
      </p:pic>
      <p:pic>
        <p:nvPicPr>
          <p:cNvPr id="9" name="Picture 8">
            <a:extLst>
              <a:ext uri="{FF2B5EF4-FFF2-40B4-BE49-F238E27FC236}">
                <a16:creationId xmlns:a16="http://schemas.microsoft.com/office/drawing/2014/main" id="{78FFF34C-8A65-2BD8-77A5-738AF3A9D237}"/>
              </a:ext>
            </a:extLst>
          </p:cNvPr>
          <p:cNvPicPr>
            <a:picLocks noChangeAspect="1"/>
          </p:cNvPicPr>
          <p:nvPr/>
        </p:nvPicPr>
        <p:blipFill>
          <a:blip r:embed="rId4"/>
          <a:stretch>
            <a:fillRect/>
          </a:stretch>
        </p:blipFill>
        <p:spPr>
          <a:xfrm>
            <a:off x="6734552" y="285750"/>
            <a:ext cx="5007021" cy="3600464"/>
          </a:xfrm>
          <a:prstGeom prst="rect">
            <a:avLst/>
          </a:prstGeom>
        </p:spPr>
      </p:pic>
    </p:spTree>
    <p:extLst>
      <p:ext uri="{BB962C8B-B14F-4D97-AF65-F5344CB8AC3E}">
        <p14:creationId xmlns:p14="http://schemas.microsoft.com/office/powerpoint/2010/main" val="805123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861FE83-05AA-5AAB-3899-DB9DA0040A2E}"/>
              </a:ext>
            </a:extLst>
          </p:cNvPr>
          <p:cNvGraphicFramePr>
            <a:graphicFrameLocks noGrp="1"/>
          </p:cNvGraphicFramePr>
          <p:nvPr>
            <p:extLst>
              <p:ext uri="{D42A27DB-BD31-4B8C-83A1-F6EECF244321}">
                <p14:modId xmlns:p14="http://schemas.microsoft.com/office/powerpoint/2010/main" val="849393831"/>
              </p:ext>
            </p:extLst>
          </p:nvPr>
        </p:nvGraphicFramePr>
        <p:xfrm>
          <a:off x="801220" y="846044"/>
          <a:ext cx="10599781" cy="5407067"/>
        </p:xfrm>
        <a:graphic>
          <a:graphicData uri="http://schemas.openxmlformats.org/drawingml/2006/table">
            <a:tbl>
              <a:tblPr firstRow="1" bandRow="1">
                <a:tableStyleId>{073A0DAA-6AF3-43AB-8588-CEC1D06C72B9}</a:tableStyleId>
              </a:tblPr>
              <a:tblGrid>
                <a:gridCol w="3761619">
                  <a:extLst>
                    <a:ext uri="{9D8B030D-6E8A-4147-A177-3AD203B41FA5}">
                      <a16:colId xmlns:a16="http://schemas.microsoft.com/office/drawing/2014/main" val="595157749"/>
                    </a:ext>
                  </a:extLst>
                </a:gridCol>
                <a:gridCol w="6838162">
                  <a:extLst>
                    <a:ext uri="{9D8B030D-6E8A-4147-A177-3AD203B41FA5}">
                      <a16:colId xmlns:a16="http://schemas.microsoft.com/office/drawing/2014/main" val="3398429059"/>
                    </a:ext>
                  </a:extLst>
                </a:gridCol>
              </a:tblGrid>
              <a:tr h="729433">
                <a:tc>
                  <a:txBody>
                    <a:bodyPr/>
                    <a:lstStyle/>
                    <a:p>
                      <a:r>
                        <a:rPr lang="en-GB" sz="3600" dirty="0"/>
                        <a:t>Columns</a:t>
                      </a:r>
                    </a:p>
                  </a:txBody>
                  <a:tcPr/>
                </a:tc>
                <a:tc>
                  <a:txBody>
                    <a:bodyPr/>
                    <a:lstStyle/>
                    <a:p>
                      <a:r>
                        <a:rPr lang="en-GB" sz="3600"/>
                        <a:t>Key Insights</a:t>
                      </a:r>
                    </a:p>
                  </a:txBody>
                  <a:tcPr/>
                </a:tc>
                <a:extLst>
                  <a:ext uri="{0D108BD9-81ED-4DB2-BD59-A6C34878D82A}">
                    <a16:rowId xmlns:a16="http://schemas.microsoft.com/office/drawing/2014/main" val="3886717049"/>
                  </a:ext>
                </a:extLst>
              </a:tr>
              <a:tr h="729433">
                <a:tc>
                  <a:txBody>
                    <a:bodyPr/>
                    <a:lstStyle/>
                    <a:p>
                      <a:pPr marL="342900" lvl="0" indent="-342900" algn="l">
                        <a:buFont typeface="Wingdings"/>
                        <a:buChar char="Ø"/>
                      </a:pPr>
                      <a:r>
                        <a:rPr lang="en-GB" sz="2400" u="none" strike="noStrike" noProof="0" dirty="0">
                          <a:solidFill>
                            <a:srgbClr val="FFFFFF"/>
                          </a:solidFill>
                        </a:rPr>
                        <a:t>species</a:t>
                      </a:r>
                    </a:p>
                  </a:txBody>
                  <a:tcPr>
                    <a:solidFill>
                      <a:schemeClr val="tx1"/>
                    </a:solidFill>
                  </a:tcPr>
                </a:tc>
                <a:tc>
                  <a:txBody>
                    <a:bodyPr/>
                    <a:lstStyle/>
                    <a:p>
                      <a:pPr>
                        <a:lnSpc>
                          <a:spcPct val="150000"/>
                        </a:lnSpc>
                      </a:pPr>
                      <a:r>
                        <a:rPr lang="en-GB" sz="2000" dirty="0">
                          <a:solidFill>
                            <a:srgbClr val="FFFFFF"/>
                          </a:solidFill>
                        </a:rPr>
                        <a:t>Only a few bird species appear most often</a:t>
                      </a:r>
                    </a:p>
                  </a:txBody>
                  <a:tcPr>
                    <a:solidFill>
                      <a:schemeClr val="tx1"/>
                    </a:solidFill>
                  </a:tcPr>
                </a:tc>
                <a:extLst>
                  <a:ext uri="{0D108BD9-81ED-4DB2-BD59-A6C34878D82A}">
                    <a16:rowId xmlns:a16="http://schemas.microsoft.com/office/drawing/2014/main" val="2905753315"/>
                  </a:ext>
                </a:extLst>
              </a:tr>
              <a:tr h="729433">
                <a:tc>
                  <a:txBody>
                    <a:bodyPr/>
                    <a:lstStyle/>
                    <a:p>
                      <a:pPr marL="342900" lvl="0" indent="-342900">
                        <a:buFont typeface="Wingdings"/>
                        <a:buChar char="Ø"/>
                      </a:pPr>
                      <a:r>
                        <a:rPr lang="en-GB" sz="2400" u="none" strike="noStrike" noProof="0" dirty="0">
                          <a:solidFill>
                            <a:srgbClr val="FFFFFF"/>
                          </a:solidFill>
                        </a:rPr>
                        <a:t>habitat</a:t>
                      </a:r>
                    </a:p>
                  </a:txBody>
                  <a:tcPr>
                    <a:solidFill>
                      <a:schemeClr val="tx1"/>
                    </a:solidFill>
                  </a:tcPr>
                </a:tc>
                <a:tc>
                  <a:txBody>
                    <a:bodyPr/>
                    <a:lstStyle/>
                    <a:p>
                      <a:pPr>
                        <a:lnSpc>
                          <a:spcPct val="150000"/>
                        </a:lnSpc>
                      </a:pPr>
                      <a:r>
                        <a:rPr lang="en-GB" sz="2000" dirty="0">
                          <a:solidFill>
                            <a:srgbClr val="FFFFFF"/>
                          </a:solidFill>
                        </a:rPr>
                        <a:t>Birds migrate through many habitat types</a:t>
                      </a:r>
                    </a:p>
                  </a:txBody>
                  <a:tcPr>
                    <a:solidFill>
                      <a:schemeClr val="tx1"/>
                    </a:solidFill>
                  </a:tcPr>
                </a:tc>
                <a:extLst>
                  <a:ext uri="{0D108BD9-81ED-4DB2-BD59-A6C34878D82A}">
                    <a16:rowId xmlns:a16="http://schemas.microsoft.com/office/drawing/2014/main" val="4105983812"/>
                  </a:ext>
                </a:extLst>
              </a:tr>
              <a:tr h="729433">
                <a:tc>
                  <a:txBody>
                    <a:bodyPr/>
                    <a:lstStyle/>
                    <a:p>
                      <a:pPr marL="342900" indent="-342900">
                        <a:buFont typeface="Wingdings"/>
                        <a:buChar char="Ø"/>
                      </a:pPr>
                      <a:r>
                        <a:rPr lang="en-GB" sz="2400" dirty="0">
                          <a:solidFill>
                            <a:srgbClr val="FFFFFF"/>
                          </a:solidFill>
                        </a:rPr>
                        <a:t>region</a:t>
                      </a:r>
                    </a:p>
                  </a:txBody>
                  <a:tcPr>
                    <a:solidFill>
                      <a:schemeClr val="tx1"/>
                    </a:solidFill>
                  </a:tcPr>
                </a:tc>
                <a:tc>
                  <a:txBody>
                    <a:bodyPr/>
                    <a:lstStyle/>
                    <a:p>
                      <a:pPr>
                        <a:lnSpc>
                          <a:spcPct val="150000"/>
                        </a:lnSpc>
                      </a:pPr>
                      <a:r>
                        <a:rPr lang="en-GB" sz="2000" dirty="0">
                          <a:solidFill>
                            <a:srgbClr val="FFFFFF"/>
                          </a:solidFill>
                        </a:rPr>
                        <a:t>Migration activity is higher in certain regions</a:t>
                      </a:r>
                    </a:p>
                  </a:txBody>
                  <a:tcPr>
                    <a:solidFill>
                      <a:schemeClr val="tx1"/>
                    </a:solidFill>
                  </a:tcPr>
                </a:tc>
                <a:extLst>
                  <a:ext uri="{0D108BD9-81ED-4DB2-BD59-A6C34878D82A}">
                    <a16:rowId xmlns:a16="http://schemas.microsoft.com/office/drawing/2014/main" val="793017809"/>
                  </a:ext>
                </a:extLst>
              </a:tr>
              <a:tr h="729433">
                <a:tc>
                  <a:txBody>
                    <a:bodyPr/>
                    <a:lstStyle/>
                    <a:p>
                      <a:pPr marL="342900" indent="-342900">
                        <a:buFont typeface="Wingdings"/>
                        <a:buChar char="Ø"/>
                      </a:pPr>
                      <a:r>
                        <a:rPr lang="en-GB" sz="2400" u="none" strike="noStrike" noProof="0" dirty="0">
                          <a:solidFill>
                            <a:srgbClr val="FFFFFF"/>
                          </a:solidFill>
                        </a:rPr>
                        <a:t>Flight_Distance_Km</a:t>
                      </a:r>
                    </a:p>
                    <a:p>
                      <a:pPr lvl="0">
                        <a:buNone/>
                      </a:pPr>
                      <a:endParaRPr lang="en-GB" dirty="0">
                        <a:solidFill>
                          <a:srgbClr val="FFFFFF"/>
                        </a:solidFill>
                      </a:endParaRPr>
                    </a:p>
                  </a:txBody>
                  <a:tcPr>
                    <a:solidFill>
                      <a:schemeClr val="tx1"/>
                    </a:solidFill>
                  </a:tcPr>
                </a:tc>
                <a:tc>
                  <a:txBody>
                    <a:bodyPr/>
                    <a:lstStyle/>
                    <a:p>
                      <a:pPr>
                        <a:lnSpc>
                          <a:spcPct val="150000"/>
                        </a:lnSpc>
                      </a:pPr>
                      <a:r>
                        <a:rPr lang="en-GB" sz="2000" dirty="0">
                          <a:solidFill>
                            <a:srgbClr val="FFFFFF"/>
                          </a:solidFill>
                        </a:rPr>
                        <a:t>Some birds travel very long distances</a:t>
                      </a:r>
                    </a:p>
                  </a:txBody>
                  <a:tcPr>
                    <a:solidFill>
                      <a:schemeClr val="tx1"/>
                    </a:solidFill>
                  </a:tcPr>
                </a:tc>
                <a:extLst>
                  <a:ext uri="{0D108BD9-81ED-4DB2-BD59-A6C34878D82A}">
                    <a16:rowId xmlns:a16="http://schemas.microsoft.com/office/drawing/2014/main" val="4039972940"/>
                  </a:ext>
                </a:extLst>
              </a:tr>
              <a:tr h="729433">
                <a:tc>
                  <a:txBody>
                    <a:bodyPr/>
                    <a:lstStyle/>
                    <a:p>
                      <a:pPr marL="342900" indent="-342900">
                        <a:buFont typeface="Wingdings"/>
                        <a:buChar char="Ø"/>
                      </a:pPr>
                      <a:r>
                        <a:rPr lang="en-GB" sz="2400" dirty="0">
                          <a:solidFill>
                            <a:srgbClr val="FFFFFF"/>
                          </a:solidFill>
                        </a:rPr>
                        <a:t>Migration reason</a:t>
                      </a:r>
                    </a:p>
                  </a:txBody>
                  <a:tcPr>
                    <a:solidFill>
                      <a:schemeClr val="tx1"/>
                    </a:solidFill>
                  </a:tcPr>
                </a:tc>
                <a:tc>
                  <a:txBody>
                    <a:bodyPr/>
                    <a:lstStyle/>
                    <a:p>
                      <a:pPr>
                        <a:lnSpc>
                          <a:spcPct val="150000"/>
                        </a:lnSpc>
                      </a:pPr>
                      <a:r>
                        <a:rPr lang="en-GB" sz="2000" dirty="0">
                          <a:solidFill>
                            <a:srgbClr val="FFFFFF"/>
                          </a:solidFill>
                        </a:rPr>
                        <a:t>Most migrations happen for the seasonal reason</a:t>
                      </a:r>
                    </a:p>
                  </a:txBody>
                  <a:tcPr>
                    <a:solidFill>
                      <a:schemeClr val="tx1"/>
                    </a:solidFill>
                  </a:tcPr>
                </a:tc>
                <a:extLst>
                  <a:ext uri="{0D108BD9-81ED-4DB2-BD59-A6C34878D82A}">
                    <a16:rowId xmlns:a16="http://schemas.microsoft.com/office/drawing/2014/main" val="1220883341"/>
                  </a:ext>
                </a:extLst>
              </a:tr>
              <a:tr h="1030469">
                <a:tc>
                  <a:txBody>
                    <a:bodyPr/>
                    <a:lstStyle/>
                    <a:p>
                      <a:pPr marL="342900" indent="-342900">
                        <a:buFont typeface="Wingdings" panose="05000000000000000000" pitchFamily="2" charset="2"/>
                        <a:buChar char="Ø"/>
                      </a:pPr>
                      <a:r>
                        <a:rPr lang="en-GB" sz="2000" dirty="0">
                          <a:solidFill>
                            <a:srgbClr val="FFFFFF"/>
                          </a:solidFill>
                        </a:rPr>
                        <a:t>Flight_Duration_hours &amp; </a:t>
                      </a:r>
                      <a:endParaRPr lang="en-US" sz="2000" dirty="0">
                        <a:solidFill>
                          <a:srgbClr val="FFFFFF"/>
                        </a:solidFill>
                      </a:endParaRPr>
                    </a:p>
                    <a:p>
                      <a:pPr marL="342900" lvl="0" indent="-342900">
                        <a:buFont typeface="Wingdings" panose="05000000000000000000" pitchFamily="2" charset="2"/>
                        <a:buChar char="Ø"/>
                      </a:pPr>
                      <a:r>
                        <a:rPr lang="en-GB" sz="2000" dirty="0">
                          <a:solidFill>
                            <a:srgbClr val="FFFFFF"/>
                          </a:solidFill>
                        </a:rPr>
                        <a:t>migration_month</a:t>
                      </a:r>
                    </a:p>
                    <a:p>
                      <a:pPr lvl="0">
                        <a:buNone/>
                      </a:pPr>
                      <a:endParaRPr lang="en-GB" sz="2000" dirty="0">
                        <a:solidFill>
                          <a:srgbClr val="FFFFFF"/>
                        </a:solidFill>
                      </a:endParaRPr>
                    </a:p>
                  </a:txBody>
                  <a:tcPr>
                    <a:solidFill>
                      <a:schemeClr val="tx1"/>
                    </a:solidFill>
                  </a:tcPr>
                </a:tc>
                <a:tc>
                  <a:txBody>
                    <a:bodyPr/>
                    <a:lstStyle/>
                    <a:p>
                      <a:pPr>
                        <a:lnSpc>
                          <a:spcPct val="150000"/>
                        </a:lnSpc>
                      </a:pPr>
                      <a:r>
                        <a:rPr lang="en-GB" sz="2000" dirty="0">
                          <a:solidFill>
                            <a:srgbClr val="FFFFFF"/>
                          </a:solidFill>
                        </a:rPr>
                        <a:t>Flight duration is not same every month</a:t>
                      </a:r>
                    </a:p>
                  </a:txBody>
                  <a:tcPr>
                    <a:solidFill>
                      <a:schemeClr val="tx1"/>
                    </a:solidFill>
                  </a:tcPr>
                </a:tc>
                <a:extLst>
                  <a:ext uri="{0D108BD9-81ED-4DB2-BD59-A6C34878D82A}">
                    <a16:rowId xmlns:a16="http://schemas.microsoft.com/office/drawing/2014/main" val="2187087527"/>
                  </a:ext>
                </a:extLst>
              </a:tr>
            </a:tbl>
          </a:graphicData>
        </a:graphic>
      </p:graphicFrame>
      <p:sp>
        <p:nvSpPr>
          <p:cNvPr id="3" name="TextBox 2">
            <a:extLst>
              <a:ext uri="{FF2B5EF4-FFF2-40B4-BE49-F238E27FC236}">
                <a16:creationId xmlns:a16="http://schemas.microsoft.com/office/drawing/2014/main" id="{ABAA9C82-3B9D-B289-13F8-1EC21CA1A36F}"/>
              </a:ext>
            </a:extLst>
          </p:cNvPr>
          <p:cNvSpPr txBox="1"/>
          <p:nvPr/>
        </p:nvSpPr>
        <p:spPr>
          <a:xfrm>
            <a:off x="660400" y="0"/>
            <a:ext cx="33601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t>Summary</a:t>
            </a:r>
          </a:p>
        </p:txBody>
      </p:sp>
    </p:spTree>
    <p:extLst>
      <p:ext uri="{BB962C8B-B14F-4D97-AF65-F5344CB8AC3E}">
        <p14:creationId xmlns:p14="http://schemas.microsoft.com/office/powerpoint/2010/main" val="151805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C8C897-D472-575D-233A-8373CF31D040}"/>
              </a:ext>
            </a:extLst>
          </p:cNvPr>
          <p:cNvGraphicFramePr>
            <a:graphicFrameLocks noGrp="1"/>
          </p:cNvGraphicFramePr>
          <p:nvPr>
            <p:extLst>
              <p:ext uri="{D42A27DB-BD31-4B8C-83A1-F6EECF244321}">
                <p14:modId xmlns:p14="http://schemas.microsoft.com/office/powerpoint/2010/main" val="2973654333"/>
              </p:ext>
            </p:extLst>
          </p:nvPr>
        </p:nvGraphicFramePr>
        <p:xfrm>
          <a:off x="812426" y="543485"/>
          <a:ext cx="10995501" cy="5561624"/>
        </p:xfrm>
        <a:graphic>
          <a:graphicData uri="http://schemas.openxmlformats.org/drawingml/2006/table">
            <a:tbl>
              <a:tblPr firstRow="1" bandRow="1">
                <a:tableStyleId>{073A0DAA-6AF3-43AB-8588-CEC1D06C72B9}</a:tableStyleId>
              </a:tblPr>
              <a:tblGrid>
                <a:gridCol w="3507618">
                  <a:extLst>
                    <a:ext uri="{9D8B030D-6E8A-4147-A177-3AD203B41FA5}">
                      <a16:colId xmlns:a16="http://schemas.microsoft.com/office/drawing/2014/main" val="3743706449"/>
                    </a:ext>
                  </a:extLst>
                </a:gridCol>
                <a:gridCol w="7487883">
                  <a:extLst>
                    <a:ext uri="{9D8B030D-6E8A-4147-A177-3AD203B41FA5}">
                      <a16:colId xmlns:a16="http://schemas.microsoft.com/office/drawing/2014/main" val="1269938754"/>
                    </a:ext>
                  </a:extLst>
                </a:gridCol>
              </a:tblGrid>
              <a:tr h="689366">
                <a:tc>
                  <a:txBody>
                    <a:bodyPr/>
                    <a:lstStyle/>
                    <a:p>
                      <a:pPr marL="342900" indent="-342900">
                        <a:buFont typeface="Wingdings" panose="05000000000000000000" pitchFamily="2" charset="2"/>
                        <a:buChar char="Ø"/>
                      </a:pPr>
                      <a:r>
                        <a:rPr lang="en-GB" sz="2000" dirty="0">
                          <a:solidFill>
                            <a:srgbClr val="FFFFFF"/>
                          </a:solidFill>
                        </a:rPr>
                        <a:t>Habitat &amp;</a:t>
                      </a:r>
                    </a:p>
                    <a:p>
                      <a:pPr marL="342900" lvl="0" indent="-342900">
                        <a:buFont typeface="Wingdings" panose="05000000000000000000" pitchFamily="2" charset="2"/>
                        <a:buChar char="Ø"/>
                      </a:pPr>
                      <a:r>
                        <a:rPr lang="en-GB" sz="2000" dirty="0">
                          <a:solidFill>
                            <a:srgbClr val="FFFFFF"/>
                          </a:solidFill>
                        </a:rPr>
                        <a:t>Flight_Distance_km</a:t>
                      </a:r>
                    </a:p>
                  </a:txBody>
                  <a:tcPr/>
                </a:tc>
                <a:tc>
                  <a:txBody>
                    <a:bodyPr/>
                    <a:lstStyle/>
                    <a:p>
                      <a:pPr>
                        <a:lnSpc>
                          <a:spcPct val="150000"/>
                        </a:lnSpc>
                      </a:pPr>
                      <a:r>
                        <a:rPr lang="en-GB" sz="2000" dirty="0">
                          <a:solidFill>
                            <a:srgbClr val="FFFFFF"/>
                          </a:solidFill>
                        </a:rPr>
                        <a:t>Habitat affects migration behaviour of the birds</a:t>
                      </a:r>
                    </a:p>
                  </a:txBody>
                  <a:tcPr>
                    <a:solidFill>
                      <a:schemeClr val="tx1"/>
                    </a:solidFill>
                  </a:tcPr>
                </a:tc>
                <a:extLst>
                  <a:ext uri="{0D108BD9-81ED-4DB2-BD59-A6C34878D82A}">
                    <a16:rowId xmlns:a16="http://schemas.microsoft.com/office/drawing/2014/main" val="3276647995"/>
                  </a:ext>
                </a:extLst>
              </a:tr>
              <a:tr h="689366">
                <a:tc>
                  <a:txBody>
                    <a:bodyPr/>
                    <a:lstStyle/>
                    <a:p>
                      <a:pPr marL="342900" indent="-342900">
                        <a:buFont typeface="Wingdings" panose="05000000000000000000" pitchFamily="2" charset="2"/>
                        <a:buChar char="Ø"/>
                      </a:pPr>
                      <a:r>
                        <a:rPr lang="en-GB" sz="2000" dirty="0">
                          <a:solidFill>
                            <a:srgbClr val="FFFFFF"/>
                          </a:solidFill>
                        </a:rPr>
                        <a:t>Weather_Condition &amp;</a:t>
                      </a:r>
                    </a:p>
                    <a:p>
                      <a:pPr marL="342900" lvl="0" indent="-342900">
                        <a:buFont typeface="Wingdings" panose="05000000000000000000" pitchFamily="2" charset="2"/>
                        <a:buChar char="Ø"/>
                      </a:pPr>
                      <a:r>
                        <a:rPr lang="en-GB" sz="2000" dirty="0">
                          <a:solidFill>
                            <a:srgbClr val="FFFFFF"/>
                          </a:solidFill>
                        </a:rPr>
                        <a:t>Wind_Speed_kmph</a:t>
                      </a:r>
                    </a:p>
                  </a:txBody>
                  <a:tcPr>
                    <a:solidFill>
                      <a:schemeClr val="tx1"/>
                    </a:solidFill>
                  </a:tcPr>
                </a:tc>
                <a:tc>
                  <a:txBody>
                    <a:bodyPr/>
                    <a:lstStyle/>
                    <a:p>
                      <a:pPr>
                        <a:lnSpc>
                          <a:spcPct val="150000"/>
                        </a:lnSpc>
                      </a:pPr>
                      <a:r>
                        <a:rPr lang="en-GB" sz="2000" dirty="0">
                          <a:solidFill>
                            <a:srgbClr val="FFFFFF"/>
                          </a:solidFill>
                        </a:rPr>
                        <a:t>Weather plays a major role in migration</a:t>
                      </a:r>
                    </a:p>
                  </a:txBody>
                  <a:tcPr>
                    <a:solidFill>
                      <a:schemeClr val="tx1"/>
                    </a:solidFill>
                  </a:tcPr>
                </a:tc>
                <a:extLst>
                  <a:ext uri="{0D108BD9-81ED-4DB2-BD59-A6C34878D82A}">
                    <a16:rowId xmlns:a16="http://schemas.microsoft.com/office/drawing/2014/main" val="1762323566"/>
                  </a:ext>
                </a:extLst>
              </a:tr>
              <a:tr h="689366">
                <a:tc>
                  <a:txBody>
                    <a:bodyPr/>
                    <a:lstStyle/>
                    <a:p>
                      <a:pPr marL="342900" indent="-342900">
                        <a:buFont typeface="Wingdings" panose="05000000000000000000" pitchFamily="2" charset="2"/>
                        <a:buChar char="Ø"/>
                      </a:pPr>
                      <a:r>
                        <a:rPr lang="en-GB" sz="2000" dirty="0">
                          <a:solidFill>
                            <a:srgbClr val="FFFFFF"/>
                          </a:solidFill>
                        </a:rPr>
                        <a:t>Flight_Distance_km &amp;</a:t>
                      </a:r>
                    </a:p>
                    <a:p>
                      <a:pPr marL="342900" lvl="0" indent="-342900">
                        <a:buFont typeface="Wingdings" panose="05000000000000000000" pitchFamily="2" charset="2"/>
                        <a:buChar char="Ø"/>
                      </a:pPr>
                      <a:r>
                        <a:rPr lang="en-GB" sz="2000" dirty="0">
                          <a:solidFill>
                            <a:srgbClr val="FFFFFF"/>
                          </a:solidFill>
                        </a:rPr>
                        <a:t>Recovery_Time_Days</a:t>
                      </a:r>
                    </a:p>
                  </a:txBody>
                  <a:tcPr>
                    <a:solidFill>
                      <a:schemeClr val="tx1"/>
                    </a:solidFill>
                  </a:tcPr>
                </a:tc>
                <a:tc>
                  <a:txBody>
                    <a:bodyPr/>
                    <a:lstStyle/>
                    <a:p>
                      <a:pPr>
                        <a:lnSpc>
                          <a:spcPct val="150000"/>
                        </a:lnSpc>
                      </a:pPr>
                      <a:r>
                        <a:rPr lang="en-GB" sz="2000" dirty="0">
                          <a:solidFill>
                            <a:srgbClr val="FFFFFF"/>
                          </a:solidFill>
                        </a:rPr>
                        <a:t>Longer flights needs more recovery time</a:t>
                      </a:r>
                    </a:p>
                  </a:txBody>
                  <a:tcPr>
                    <a:solidFill>
                      <a:schemeClr val="tx1"/>
                    </a:solidFill>
                  </a:tcPr>
                </a:tc>
                <a:extLst>
                  <a:ext uri="{0D108BD9-81ED-4DB2-BD59-A6C34878D82A}">
                    <a16:rowId xmlns:a16="http://schemas.microsoft.com/office/drawing/2014/main" val="529137905"/>
                  </a:ext>
                </a:extLst>
              </a:tr>
              <a:tr h="689366">
                <a:tc>
                  <a:txBody>
                    <a:bodyPr/>
                    <a:lstStyle/>
                    <a:p>
                      <a:pPr marL="342900" indent="-342900">
                        <a:buFont typeface="Wingdings" panose="05000000000000000000" pitchFamily="2" charset="2"/>
                        <a:buChar char="Ø"/>
                      </a:pPr>
                      <a:r>
                        <a:rPr lang="en-GB" sz="2000" dirty="0">
                          <a:solidFill>
                            <a:srgbClr val="FFFFFF"/>
                          </a:solidFill>
                        </a:rPr>
                        <a:t>Flight_Distance_km &amp;</a:t>
                      </a:r>
                    </a:p>
                    <a:p>
                      <a:pPr marL="342900" lvl="0" indent="-342900">
                        <a:buFont typeface="Wingdings" panose="05000000000000000000" pitchFamily="2" charset="2"/>
                        <a:buChar char="Ø"/>
                      </a:pPr>
                      <a:r>
                        <a:rPr lang="en-GB" sz="2000" dirty="0">
                          <a:solidFill>
                            <a:srgbClr val="FFFFFF"/>
                          </a:solidFill>
                        </a:rPr>
                        <a:t>Flight_Duration_hours</a:t>
                      </a:r>
                    </a:p>
                  </a:txBody>
                  <a:tcPr>
                    <a:solidFill>
                      <a:schemeClr val="tx1"/>
                    </a:solidFill>
                  </a:tcPr>
                </a:tc>
                <a:tc>
                  <a:txBody>
                    <a:bodyPr/>
                    <a:lstStyle/>
                    <a:p>
                      <a:pPr>
                        <a:lnSpc>
                          <a:spcPct val="150000"/>
                        </a:lnSpc>
                      </a:pPr>
                      <a:r>
                        <a:rPr lang="en-GB" sz="2000" dirty="0">
                          <a:solidFill>
                            <a:srgbClr val="FFFFFF"/>
                          </a:solidFill>
                        </a:rPr>
                        <a:t>Flight distance and duration are weekly related in migration</a:t>
                      </a:r>
                    </a:p>
                  </a:txBody>
                  <a:tcPr>
                    <a:solidFill>
                      <a:schemeClr val="tx1"/>
                    </a:solidFill>
                  </a:tcPr>
                </a:tc>
                <a:extLst>
                  <a:ext uri="{0D108BD9-81ED-4DB2-BD59-A6C34878D82A}">
                    <a16:rowId xmlns:a16="http://schemas.microsoft.com/office/drawing/2014/main" val="2133288649"/>
                  </a:ext>
                </a:extLst>
              </a:tr>
              <a:tr h="689366">
                <a:tc>
                  <a:txBody>
                    <a:bodyPr/>
                    <a:lstStyle/>
                    <a:p>
                      <a:pPr marL="342900" indent="-342900">
                        <a:buFont typeface="Wingdings" panose="05000000000000000000" pitchFamily="2" charset="2"/>
                        <a:buChar char="Ø"/>
                      </a:pPr>
                      <a:r>
                        <a:rPr lang="en-GB" sz="2000" dirty="0">
                          <a:solidFill>
                            <a:srgbClr val="FFFFFF"/>
                          </a:solidFill>
                        </a:rPr>
                        <a:t>Average_Speed_kmph</a:t>
                      </a:r>
                    </a:p>
                  </a:txBody>
                  <a:tcPr>
                    <a:solidFill>
                      <a:schemeClr val="tx1"/>
                    </a:solidFill>
                  </a:tcPr>
                </a:tc>
                <a:tc>
                  <a:txBody>
                    <a:bodyPr/>
                    <a:lstStyle/>
                    <a:p>
                      <a:pPr>
                        <a:lnSpc>
                          <a:spcPct val="150000"/>
                        </a:lnSpc>
                      </a:pPr>
                      <a:r>
                        <a:rPr lang="en-GB" sz="2000" dirty="0">
                          <a:solidFill>
                            <a:srgbClr val="FFFFFF"/>
                          </a:solidFill>
                        </a:rPr>
                        <a:t>Birds speed fairly remains constant during migration</a:t>
                      </a:r>
                    </a:p>
                  </a:txBody>
                  <a:tcPr>
                    <a:solidFill>
                      <a:schemeClr val="tx1"/>
                    </a:solidFill>
                  </a:tcPr>
                </a:tc>
                <a:extLst>
                  <a:ext uri="{0D108BD9-81ED-4DB2-BD59-A6C34878D82A}">
                    <a16:rowId xmlns:a16="http://schemas.microsoft.com/office/drawing/2014/main" val="1209810177"/>
                  </a:ext>
                </a:extLst>
              </a:tr>
              <a:tr h="689366">
                <a:tc>
                  <a:txBody>
                    <a:bodyPr/>
                    <a:lstStyle/>
                    <a:p>
                      <a:pPr marL="342900" indent="-342900">
                        <a:buFont typeface="Wingdings" panose="05000000000000000000" pitchFamily="2" charset="2"/>
                        <a:buChar char="Ø"/>
                      </a:pPr>
                      <a:r>
                        <a:rPr lang="en-GB" sz="2000" dirty="0">
                          <a:solidFill>
                            <a:srgbClr val="FFFFFF"/>
                          </a:solidFill>
                        </a:rPr>
                        <a:t>Region &amp; Habitat</a:t>
                      </a:r>
                    </a:p>
                  </a:txBody>
                  <a:tcPr>
                    <a:solidFill>
                      <a:schemeClr val="tx1"/>
                    </a:solidFill>
                  </a:tcPr>
                </a:tc>
                <a:tc>
                  <a:txBody>
                    <a:bodyPr/>
                    <a:lstStyle/>
                    <a:p>
                      <a:pPr>
                        <a:lnSpc>
                          <a:spcPct val="150000"/>
                        </a:lnSpc>
                      </a:pPr>
                      <a:r>
                        <a:rPr lang="en-GB" sz="2000" dirty="0">
                          <a:solidFill>
                            <a:srgbClr val="FFFFFF"/>
                          </a:solidFill>
                        </a:rPr>
                        <a:t>Migration patterns differ by region and habitat</a:t>
                      </a:r>
                    </a:p>
                  </a:txBody>
                  <a:tcPr>
                    <a:solidFill>
                      <a:schemeClr val="tx1"/>
                    </a:solidFill>
                  </a:tcPr>
                </a:tc>
                <a:extLst>
                  <a:ext uri="{0D108BD9-81ED-4DB2-BD59-A6C34878D82A}">
                    <a16:rowId xmlns:a16="http://schemas.microsoft.com/office/drawing/2014/main" val="926988832"/>
                  </a:ext>
                </a:extLst>
              </a:tr>
              <a:tr h="689366">
                <a:tc>
                  <a:txBody>
                    <a:bodyPr/>
                    <a:lstStyle/>
                    <a:p>
                      <a:pPr marL="342900" indent="-342900">
                        <a:buFont typeface="Wingdings" panose="05000000000000000000" pitchFamily="2" charset="2"/>
                        <a:buChar char="Ø"/>
                      </a:pPr>
                      <a:r>
                        <a:rPr lang="en-GB" sz="2000" dirty="0">
                          <a:solidFill>
                            <a:srgbClr val="FFFFFF"/>
                          </a:solidFill>
                        </a:rPr>
                        <a:t>Migration_End_Month</a:t>
                      </a:r>
                    </a:p>
                  </a:txBody>
                  <a:tcPr>
                    <a:solidFill>
                      <a:schemeClr val="tx1"/>
                    </a:solidFill>
                  </a:tcPr>
                </a:tc>
                <a:tc>
                  <a:txBody>
                    <a:bodyPr/>
                    <a:lstStyle/>
                    <a:p>
                      <a:pPr lvl="0" algn="l">
                        <a:lnSpc>
                          <a:spcPct val="150000"/>
                        </a:lnSpc>
                        <a:spcBef>
                          <a:spcPts val="0"/>
                        </a:spcBef>
                        <a:spcAft>
                          <a:spcPts val="0"/>
                        </a:spcAft>
                        <a:buNone/>
                      </a:pPr>
                      <a:r>
                        <a:rPr lang="en-GB" sz="2000" u="none" strike="noStrike" noProof="0" dirty="0">
                          <a:solidFill>
                            <a:srgbClr val="FFFFFF"/>
                          </a:solidFill>
                        </a:rPr>
                        <a:t>Migration changes across months</a:t>
                      </a:r>
                      <a:endParaRPr lang="en-GB" sz="2000" u="none" strike="noStrike" noProof="0" dirty="0">
                        <a:solidFill>
                          <a:srgbClr val="000000"/>
                        </a:solidFill>
                      </a:endParaRPr>
                    </a:p>
                  </a:txBody>
                  <a:tcPr>
                    <a:solidFill>
                      <a:schemeClr val="tx1"/>
                    </a:solidFill>
                  </a:tcPr>
                </a:tc>
                <a:extLst>
                  <a:ext uri="{0D108BD9-81ED-4DB2-BD59-A6C34878D82A}">
                    <a16:rowId xmlns:a16="http://schemas.microsoft.com/office/drawing/2014/main" val="508449912"/>
                  </a:ext>
                </a:extLst>
              </a:tr>
              <a:tr h="689366">
                <a:tc>
                  <a:txBody>
                    <a:bodyPr/>
                    <a:lstStyle/>
                    <a:p>
                      <a:pPr marL="342900" indent="-342900">
                        <a:buFont typeface="Wingdings" panose="05000000000000000000" pitchFamily="2" charset="2"/>
                        <a:buChar char="Ø"/>
                      </a:pPr>
                      <a:r>
                        <a:rPr lang="en-GB" sz="2000" dirty="0">
                          <a:solidFill>
                            <a:srgbClr val="FFFFFF"/>
                          </a:solidFill>
                        </a:rPr>
                        <a:t>Flight_Distance_km</a:t>
                      </a:r>
                    </a:p>
                  </a:txBody>
                  <a:tcPr>
                    <a:solidFill>
                      <a:schemeClr val="tx1"/>
                    </a:solidFill>
                  </a:tcPr>
                </a:tc>
                <a:tc>
                  <a:txBody>
                    <a:bodyPr/>
                    <a:lstStyle/>
                    <a:p>
                      <a:pPr>
                        <a:lnSpc>
                          <a:spcPct val="150000"/>
                        </a:lnSpc>
                      </a:pPr>
                      <a:r>
                        <a:rPr lang="en-GB" sz="2000" dirty="0">
                          <a:solidFill>
                            <a:srgbClr val="FFFFFF"/>
                          </a:solidFill>
                        </a:rPr>
                        <a:t>Some birds travel very long distance as per out layers</a:t>
                      </a:r>
                    </a:p>
                  </a:txBody>
                  <a:tcPr>
                    <a:solidFill>
                      <a:schemeClr val="tx1"/>
                    </a:solidFill>
                  </a:tcPr>
                </a:tc>
                <a:extLst>
                  <a:ext uri="{0D108BD9-81ED-4DB2-BD59-A6C34878D82A}">
                    <a16:rowId xmlns:a16="http://schemas.microsoft.com/office/drawing/2014/main" val="1574701926"/>
                  </a:ext>
                </a:extLst>
              </a:tr>
            </a:tbl>
          </a:graphicData>
        </a:graphic>
      </p:graphicFrame>
    </p:spTree>
    <p:extLst>
      <p:ext uri="{BB962C8B-B14F-4D97-AF65-F5344CB8AC3E}">
        <p14:creationId xmlns:p14="http://schemas.microsoft.com/office/powerpoint/2010/main" val="2991436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9.XML" val="638296947"/>
  <p:tag name="PPT/SLIDES/SLIDE1.XML" val="2867418440"/>
  <p:tag name="PPT/SLIDES/SLIDE2.XML" val="4135478725"/>
  <p:tag name="PPT/SLIDES/SLIDE3.XML" val="2599042783"/>
  <p:tag name="PPT/SLIDES/SLIDE4.XML" val="3978570690"/>
  <p:tag name="PPT/SLIDES/SLIDE5.XML" val="3168955941"/>
  <p:tag name="PPT/SLIDES/SLIDE6.XML" val="360121274"/>
  <p:tag name="PPT/SLIDES/SLIDE7.XML" val="922138410"/>
  <p:tag name="PPT/SLIDES/SLIDE8.XML" val="1280098774"/>
  <p:tag name="PPT/SLIDES/SLIDE10.XML" val="818163777"/>
  <p:tag name="PPT/SLIDES/SLIDE11.XML" val="1030033483"/>
  <p:tag name="PPT/SLIDES/SLIDE12.XML" val="1297032067"/>
  <p:tag name="PPT/SLIDES/SLIDE13.XML" val="2953794254"/>
  <p:tag name="PPT/SLIDES/SLIDE14.XML" val="2396883464"/>
  <p:tag name="PPT/SLIDES/SLIDE15.XML" val="2933601919"/>
  <p:tag name="PPT/SLIDEMASTERS/SLIDEMASTER1.XML" val="1620914639"/>
  <p:tag name="PPT/NOTESSLIDES/NOTESSLIDE4.XML" val="1688539739"/>
  <p:tag name="PPT/SLIDELAYOUTS/SLIDELAYOUT1.XML" val="2043131905"/>
  <p:tag name="PPT/SLIDELAYOUTS/SLIDELAYOUT2.XML" val="1813969948"/>
  <p:tag name="PPT/SLIDELAYOUTS/SLIDELAYOUT3.XML" val="1156658575"/>
  <p:tag name="PPT/SLIDELAYOUTS/SLIDELAYOUT4.XML" val="3894939816"/>
  <p:tag name="PPT/SLIDELAYOUTS/SLIDELAYOUT5.XML" val="841788044"/>
  <p:tag name="PPT/SLIDELAYOUTS/SLIDELAYOUT6.XML" val="3870330158"/>
  <p:tag name="PPT/SLIDELAYOUTS/SLIDELAYOUT7.XML" val="3986379960"/>
  <p:tag name="PPT/SLIDELAYOUTS/SLIDELAYOUT8.XML" val="2092691092"/>
  <p:tag name="PPT/SLIDELAYOUTS/SLIDELAYOUT9.XML" val="1997540835"/>
  <p:tag name="PPT/SLIDELAYOUTS/SLIDELAYOUT10.XML" val="1219123018"/>
  <p:tag name="PPT/NOTESSLIDES/NOTESSLIDE1.XML" val="273177636"/>
  <p:tag name="PPT/NOTESSLIDES/NOTESSLIDE2.XML" val="4026916162"/>
  <p:tag name="PPT/NOTESSLIDES/NOTESSLIDE3.XML" val="229701808"/>
  <p:tag name="PPT/NOTESMASTERS/NOTESMASTER1.XML" val="3955689372"/>
  <p:tag name="PPT/THEME/THEME1.XML" val="2366367634"/>
  <p:tag name="PPT/MEDIA/IMAGE1.PNG" val="953850051"/>
  <p:tag name="PPT/THEME/THEME2.XML" val="2366367634"/>
  <p:tag name="PPT/MEDIA/IMAGE2.PNG" val="3538753275"/>
  <p:tag name="PPT/MEDIA/IMAGE3.PNG" val="3754185275"/>
  <p:tag name="PPT/MEDIA/IMAGE6.PNG" val="2520504231"/>
  <p:tag name="PPT/MEDIA/IMAGE7.PNG" val="929662823"/>
  <p:tag name="PPT/MEDIA/IMAGE8.PNG" val="3654958064"/>
  <p:tag name="PPT/MEDIA/IMAGE9.PNG" val="181407287"/>
  <p:tag name="PPT/MEDIA/IMAGE10.PNG" val="227674207"/>
  <p:tag name="PPT/MEDIA/IMAGE11.PNG" val="1600331252"/>
  <p:tag name="PPT/MEDIA/IMAGE12.PNG" val="371758694"/>
  <p:tag name="PPT/SLIDES/SLIDE16.XML" val="2179716963"/>
  <p:tag name="PPT/SLIDES/SLIDE17.XML" val="3050996418"/>
  <p:tag name="PPT/SLIDES/SLIDE18.XML" val="213253212"/>
  <p:tag name="PPT/SLIDES/SLIDE19.XML" val="3681354658"/>
  <p:tag name="PPT/SLIDES/SLIDE20.XML" val="4124243882"/>
  <p:tag name="PPT/SLIDES/SLIDE21.XML" val="3609576799"/>
  <p:tag name="PPT/SLIDES/SLIDE22.XML" val="3542172690"/>
  <p:tag name="PPT/MEDIA/IMAGE13.PNG" val="35546721"/>
  <p:tag name="PPT/MEDIA/IMAGE14.PNG" val="3324471405"/>
  <p:tag name="PPT/MEDIA/IMAGE27.PNG" val="1459462546"/>
  <p:tag name="PPT/MEDIA/IMAGE15.PNG" val="2785847551"/>
  <p:tag name="PPT/MEDIA/IMAGE28.PNG" val="1142767180"/>
  <p:tag name="PPT/MEDIA/IMAGE5.JPEG" val="1822765166"/>
  <p:tag name="PPT/MEDIA/IMAGE4.JPEG" val="664234217"/>
  <p:tag name="PPT/MEDIA/IMAGE16.PNG" val="2446640933"/>
  <p:tag name="PPT/MEDIA/IMAGE29.PNG" val="1819586715"/>
  <p:tag name="PPT/SLIDES/SLIDE23.XML" val="4204334454"/>
  <p:tag name="PPT/SLIDES/SLIDE24.XML" val="3637233127"/>
  <p:tag name="PPT/MEDIA/IMAGE17.PNG" val="2879902375"/>
  <p:tag name="PPT/MEDIA/IMAGE30.PNG" val="4105325559"/>
  <p:tag name="PPT/MEDIA/IMAGE18.PNG" val="922528304"/>
  <p:tag name="PPT/MEDIA/IMAGE31.PNG" val="4248300892"/>
  <p:tag name="PPT/MEDIA/IMAGE19.PNG" val="869669935"/>
  <p:tag name="PPT/MEDIA/IMAGE32.PNG" val="9934197"/>
  <p:tag name="PPT/MEDIA/IMAGE20.PNG" val="3552392339"/>
  <p:tag name="PPT/MEDIA/IMAGE33.PNG" val="472714271"/>
  <p:tag name="PPT/SLIDES/SLIDE25.XML" val="1894932148"/>
  <p:tag name="PPT/MEDIA/IMAGE21.PNG" val="3368929000"/>
  <p:tag name="PPT/MEDIA/IMAGE34.PNG" val="4211652387"/>
  <p:tag name="PPT/SLIDES/SLIDE26.XML" val="1697667565"/>
  <p:tag name="PPT/MEDIA/IMAGE22.PNG" val="1804658396"/>
  <p:tag name="PPT/MEDIA/IMAGE35.PNG" val="512059255"/>
  <p:tag name="PPT/MEDIA/IMAGE23.PNG" val="1027425674"/>
  <p:tag name="PPT/MEDIA/IMAGE24.JPEG" val="3301096732"/>
  <p:tag name="PPT/MEDIA/IMAGE25.PNG" val="180259394"/>
  <p:tag name="PPT/MEDIA/IMAGE26.JPEG" val="3403701564"/>
  <p:tag name="PPT/MEDIA/IMAGE36.PNG" val="618153921"/>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1518</Words>
  <Application>Microsoft Office PowerPoint</Application>
  <PresentationFormat>Widescreen</PresentationFormat>
  <Paragraphs>221</Paragraphs>
  <Slides>25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Libre Baskerville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DEEPTHI</dc:creator>
  <cp:lastModifiedBy>deepthipodila2003@outlook.com</cp:lastModifiedBy>
  <cp:revision>15</cp:revision>
  <dcterms:modified xsi:type="dcterms:W3CDTF">2026-02-17T10:43:14Z</dcterms:modified>
</cp:coreProperties>
</file>